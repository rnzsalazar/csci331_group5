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5143500" cx="9144000"/>
  <p:notesSz cx="6858000" cy="9144000"/>
  <p:embeddedFontLst>
    <p:embeddedFont>
      <p:font typeface="PT Sans Narrow"/>
      <p:regular r:id="rId34"/>
      <p:bold r:id="rId35"/>
    </p:embeddedFont>
    <p:embeddedFont>
      <p:font typeface="Inter"/>
      <p:regular r:id="rId36"/>
      <p:bold r:id="rId37"/>
      <p:italic r:id="rId38"/>
      <p:boldItalic r:id="rId39"/>
    </p:embeddedFont>
    <p:embeddedFont>
      <p:font typeface="Open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iLGweLcj9egnpBl6BXxYJvdxHF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regular.fntdata"/><Relationship Id="rId20" Type="http://schemas.openxmlformats.org/officeDocument/2006/relationships/slide" Target="slides/slide16.xml"/><Relationship Id="rId42" Type="http://schemas.openxmlformats.org/officeDocument/2006/relationships/font" Target="fonts/OpenSans-italic.fntdata"/><Relationship Id="rId41" Type="http://schemas.openxmlformats.org/officeDocument/2006/relationships/font" Target="fonts/OpenSans-bold.fntdata"/><Relationship Id="rId22" Type="http://schemas.openxmlformats.org/officeDocument/2006/relationships/slide" Target="slides/slide18.xml"/><Relationship Id="rId44" Type="http://customschemas.google.com/relationships/presentationmetadata" Target="metadata"/><Relationship Id="rId21" Type="http://schemas.openxmlformats.org/officeDocument/2006/relationships/slide" Target="slides/slide17.xml"/><Relationship Id="rId43" Type="http://schemas.openxmlformats.org/officeDocument/2006/relationships/font" Target="fonts/OpenSans-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PTSansNarrow-bold.fntdata"/><Relationship Id="rId12" Type="http://schemas.openxmlformats.org/officeDocument/2006/relationships/slide" Target="slides/slide8.xml"/><Relationship Id="rId34" Type="http://schemas.openxmlformats.org/officeDocument/2006/relationships/font" Target="fonts/PTSansNarrow-regular.fntdata"/><Relationship Id="rId15" Type="http://schemas.openxmlformats.org/officeDocument/2006/relationships/slide" Target="slides/slide11.xml"/><Relationship Id="rId37" Type="http://schemas.openxmlformats.org/officeDocument/2006/relationships/font" Target="fonts/Inter-bold.fntdata"/><Relationship Id="rId14" Type="http://schemas.openxmlformats.org/officeDocument/2006/relationships/slide" Target="slides/slide10.xml"/><Relationship Id="rId36" Type="http://schemas.openxmlformats.org/officeDocument/2006/relationships/font" Target="fonts/Inter-regular.fntdata"/><Relationship Id="rId17" Type="http://schemas.openxmlformats.org/officeDocument/2006/relationships/slide" Target="slides/slide13.xml"/><Relationship Id="rId39" Type="http://schemas.openxmlformats.org/officeDocument/2006/relationships/font" Target="fonts/Inter-boldItalic.fntdata"/><Relationship Id="rId16" Type="http://schemas.openxmlformats.org/officeDocument/2006/relationships/slide" Target="slides/slide12.xml"/><Relationship Id="rId38" Type="http://schemas.openxmlformats.org/officeDocument/2006/relationships/font" Target="fonts/Inter-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91482f1c1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g3a91482f1c1_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b83d0792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g3ab83d07921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1290a4bf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1290a4bf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1290a4bf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b1290a4bf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1290a4bf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b1290a4bf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1290a4bf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1290a4bf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1290a4bf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b1290a4bf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b1290a4bfa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b1290a4bf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1290a4bf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b1290a4bf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b83d0792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ab83d07921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1290a4bf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b1290a4bf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1290a4bfa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1290a4bfa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1290a4bfa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1290a4bfa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1290a4bfa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1290a4bfa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1290a4bfa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1290a4bfa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1290a4bfa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b1290a4bfa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b83d0792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ab83d07921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b1290a4bfa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b1290a4bfa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1290a4bfa_8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1290a4bfa_8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1290a4bfa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b1290a4bfa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b1290a4bfa_8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b1290a4bfa_8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b1347ce7e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b1347ce7e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1347ce7e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b1347ce7e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b1347ce7e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b1347ce7e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b1347ce7e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b1347ce7e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bb010307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3abb0103071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bb010307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abb0103071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bb010307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3abb0103071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bb010307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3abb0103071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21"/>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12" name="Google Shape;12;p2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 name="Google Shape;1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22"/>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2"/>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17" name="Google Shape;1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2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0" name="Google Shape;20;p23"/>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23"/>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cxnSp>
        <p:nvCxnSpPr>
          <p:cNvPr id="24" name="Google Shape;24;p20"/>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25" name="Google Shape;25;p20"/>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26" name="Google Shape;26;p20"/>
          <p:cNvGrpSpPr/>
          <p:nvPr/>
        </p:nvGrpSpPr>
        <p:grpSpPr>
          <a:xfrm>
            <a:off x="1004144" y="1022025"/>
            <a:ext cx="7136668" cy="152400"/>
            <a:chOff x="1346429" y="1011300"/>
            <a:chExt cx="6452100" cy="152400"/>
          </a:xfrm>
        </p:grpSpPr>
        <p:cxnSp>
          <p:nvCxnSpPr>
            <p:cNvPr id="27" name="Google Shape;27;p20"/>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28" name="Google Shape;28;p20"/>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29" name="Google Shape;29;p20"/>
          <p:cNvGrpSpPr/>
          <p:nvPr/>
        </p:nvGrpSpPr>
        <p:grpSpPr>
          <a:xfrm>
            <a:off x="1004151" y="3969100"/>
            <a:ext cx="7136668" cy="152400"/>
            <a:chOff x="1346435" y="3969088"/>
            <a:chExt cx="6452100" cy="152400"/>
          </a:xfrm>
        </p:grpSpPr>
        <p:cxnSp>
          <p:nvCxnSpPr>
            <p:cNvPr id="30" name="Google Shape;30;p20"/>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31" name="Google Shape;31;p20"/>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32" name="Google Shape;32;p20"/>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33" name="Google Shape;33;p20"/>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2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2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2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41" name="Google Shape;4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26"/>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4" name="Google Shape;4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27"/>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 name="Google Shape;47;p27"/>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27"/>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27"/>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27"/>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1" name="Google Shape;51;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28"/>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29"/>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9"/>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29"/>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1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g3a91482f1c1_1_8"/>
          <p:cNvSpPr txBox="1"/>
          <p:nvPr>
            <p:ph type="title"/>
          </p:nvPr>
        </p:nvSpPr>
        <p:spPr>
          <a:xfrm>
            <a:off x="810075" y="888925"/>
            <a:ext cx="7911600" cy="35922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55384"/>
              <a:buNone/>
            </a:pPr>
            <a:r>
              <a:rPr lang="en" sz="6500"/>
              <a:t>CLASS SCHEDULE</a:t>
            </a:r>
            <a:endParaRPr sz="6500"/>
          </a:p>
          <a:p>
            <a:pPr indent="0" lvl="0" marL="0" rtl="0" algn="ctr">
              <a:lnSpc>
                <a:spcPct val="100000"/>
              </a:lnSpc>
              <a:spcBef>
                <a:spcPts val="0"/>
              </a:spcBef>
              <a:spcAft>
                <a:spcPts val="0"/>
              </a:spcAft>
              <a:buSzPct val="55384"/>
              <a:buNone/>
            </a:pPr>
            <a:r>
              <a:rPr lang="en" sz="6500"/>
              <a:t>DESIGN TEAM</a:t>
            </a:r>
            <a:endParaRPr sz="6500"/>
          </a:p>
          <a:p>
            <a:pPr indent="0" lvl="0" marL="0" rtl="0" algn="ctr">
              <a:lnSpc>
                <a:spcPct val="100000"/>
              </a:lnSpc>
              <a:spcBef>
                <a:spcPts val="0"/>
              </a:spcBef>
              <a:spcAft>
                <a:spcPts val="0"/>
              </a:spcAft>
              <a:buSzPct val="55384"/>
              <a:buNone/>
            </a:pPr>
            <a:r>
              <a:rPr lang="en" sz="6500"/>
              <a:t>GROUP 5</a:t>
            </a:r>
            <a:br>
              <a:rPr lang="en" sz="6500"/>
            </a:br>
            <a:r>
              <a:rPr b="0" lang="en" sz="1600">
                <a:solidFill>
                  <a:srgbClr val="17175A"/>
                </a:solidFill>
                <a:latin typeface="Inter"/>
                <a:ea typeface="Inter"/>
                <a:cs typeface="Inter"/>
                <a:sym typeface="Inter"/>
              </a:rPr>
              <a:t>Bryan Sanchez</a:t>
            </a:r>
            <a:br>
              <a:rPr b="0" lang="en" sz="1600">
                <a:solidFill>
                  <a:srgbClr val="17175A"/>
                </a:solidFill>
                <a:latin typeface="Inter"/>
                <a:ea typeface="Inter"/>
                <a:cs typeface="Inter"/>
                <a:sym typeface="Inter"/>
              </a:rPr>
            </a:br>
            <a:r>
              <a:rPr b="0" lang="en" sz="1600">
                <a:solidFill>
                  <a:srgbClr val="17175A"/>
                </a:solidFill>
                <a:latin typeface="Inter"/>
                <a:ea typeface="Inter"/>
                <a:cs typeface="Inter"/>
                <a:sym typeface="Inter"/>
              </a:rPr>
              <a:t>Devak Mehta</a:t>
            </a:r>
            <a:br>
              <a:rPr b="0" lang="en" sz="1600">
                <a:solidFill>
                  <a:srgbClr val="17175A"/>
                </a:solidFill>
                <a:latin typeface="Inter"/>
                <a:ea typeface="Inter"/>
                <a:cs typeface="Inter"/>
                <a:sym typeface="Inter"/>
              </a:rPr>
            </a:br>
            <a:r>
              <a:rPr b="0" lang="en" sz="1600">
                <a:solidFill>
                  <a:srgbClr val="17175A"/>
                </a:solidFill>
                <a:latin typeface="Inter"/>
                <a:ea typeface="Inter"/>
                <a:cs typeface="Inter"/>
                <a:sym typeface="Inter"/>
              </a:rPr>
              <a:t>Renzo Salazar Cueva</a:t>
            </a:r>
            <a:endParaRPr sz="6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g3ab83d07921_0_5"/>
          <p:cNvSpPr txBox="1"/>
          <p:nvPr>
            <p:ph type="title"/>
          </p:nvPr>
        </p:nvSpPr>
        <p:spPr>
          <a:xfrm>
            <a:off x="208425" y="783800"/>
            <a:ext cx="8571300" cy="942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000"/>
              <a:buNone/>
            </a:pPr>
            <a:r>
              <a:rPr lang="en"/>
              <a:t>RENZO</a:t>
            </a:r>
            <a:endParaRPr/>
          </a:p>
        </p:txBody>
      </p:sp>
      <p:sp>
        <p:nvSpPr>
          <p:cNvPr id="72" name="Google Shape;72;g3ab83d07921_0_5"/>
          <p:cNvSpPr txBox="1"/>
          <p:nvPr>
            <p:ph type="title"/>
          </p:nvPr>
        </p:nvSpPr>
        <p:spPr>
          <a:xfrm>
            <a:off x="2328525" y="1560850"/>
            <a:ext cx="4331100" cy="942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sz="2800"/>
              <a:t>TABLES</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b1290a4bfa_0_72"/>
          <p:cNvSpPr txBox="1"/>
          <p:nvPr>
            <p:ph type="title"/>
          </p:nvPr>
        </p:nvSpPr>
        <p:spPr>
          <a:xfrm>
            <a:off x="183125" y="1592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QueensClassSchedule</a:t>
            </a:r>
            <a:endParaRPr/>
          </a:p>
        </p:txBody>
      </p:sp>
      <p:pic>
        <p:nvPicPr>
          <p:cNvPr id="78" name="Google Shape;78;g3b1290a4bfa_0_72"/>
          <p:cNvPicPr preferRelativeResize="0"/>
          <p:nvPr/>
        </p:nvPicPr>
        <p:blipFill>
          <a:blip r:embed="rId3">
            <a:alphaModFix/>
          </a:blip>
          <a:stretch>
            <a:fillRect/>
          </a:stretch>
        </p:blipFill>
        <p:spPr>
          <a:xfrm>
            <a:off x="183125" y="920400"/>
            <a:ext cx="8777761" cy="3302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3b1290a4bfa_0_11"/>
          <p:cNvSpPr txBox="1"/>
          <p:nvPr>
            <p:ph type="title"/>
          </p:nvPr>
        </p:nvSpPr>
        <p:spPr>
          <a:xfrm>
            <a:off x="163100" y="67825"/>
            <a:ext cx="8520600" cy="707400"/>
          </a:xfrm>
          <a:prstGeom prst="rect">
            <a:avLst/>
          </a:prstGeom>
        </p:spPr>
        <p:txBody>
          <a:bodyPr anchorCtr="0" anchor="t" bIns="91425" lIns="91425" spcFirstLastPara="1" rIns="91425" wrap="square" tIns="91425">
            <a:normAutofit fontScale="90000"/>
          </a:bodyPr>
          <a:lstStyle/>
          <a:p>
            <a:pPr indent="0" lvl="0" marL="0" marR="0" rtl="0" algn="l">
              <a:spcBef>
                <a:spcPts val="0"/>
              </a:spcBef>
              <a:spcAft>
                <a:spcPts val="0"/>
              </a:spcAft>
              <a:buNone/>
            </a:pPr>
            <a:r>
              <a:rPr lang="en"/>
              <a:t>Faculty</a:t>
            </a:r>
            <a:endParaRPr/>
          </a:p>
        </p:txBody>
      </p:sp>
      <p:sp>
        <p:nvSpPr>
          <p:cNvPr id="84" name="Google Shape;84;g3b1290a4bfa_0_11"/>
          <p:cNvSpPr txBox="1"/>
          <p:nvPr>
            <p:ph idx="1" type="body"/>
          </p:nvPr>
        </p:nvSpPr>
        <p:spPr>
          <a:xfrm>
            <a:off x="4931275" y="1130050"/>
            <a:ext cx="4034700" cy="33603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212121"/>
              </a:buClr>
              <a:buSzPts val="1400"/>
              <a:buFont typeface="Arial"/>
              <a:buChar char="●"/>
            </a:pPr>
            <a:r>
              <a:rPr lang="en">
                <a:solidFill>
                  <a:srgbClr val="212121"/>
                </a:solidFill>
                <a:latin typeface="Arial"/>
                <a:ea typeface="Arial"/>
                <a:cs typeface="Arial"/>
                <a:sym typeface="Arial"/>
              </a:rPr>
              <a:t>Instructor</a:t>
            </a:r>
            <a:endParaRPr>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Original database just had the Instructor as ‘LastName, FirstName’ format.</a:t>
            </a:r>
            <a:endParaRPr sz="1400">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Split first name and last name, and a computed field for Full Name</a:t>
            </a:r>
            <a:endParaRPr sz="1400">
              <a:solidFill>
                <a:srgbClr val="212121"/>
              </a:solidFill>
              <a:latin typeface="Arial"/>
              <a:ea typeface="Arial"/>
              <a:cs typeface="Arial"/>
              <a:sym typeface="Arial"/>
            </a:endParaRPr>
          </a:p>
          <a:p>
            <a:pPr indent="-317500" lvl="0" marL="457200" rtl="0" algn="l">
              <a:spcBef>
                <a:spcPts val="0"/>
              </a:spcBef>
              <a:spcAft>
                <a:spcPts val="0"/>
              </a:spcAft>
              <a:buClr>
                <a:srgbClr val="212121"/>
              </a:buClr>
              <a:buSzPts val="1400"/>
              <a:buFont typeface="Arial"/>
              <a:buChar char="●"/>
            </a:pPr>
            <a:r>
              <a:rPr lang="en">
                <a:solidFill>
                  <a:srgbClr val="212121"/>
                </a:solidFill>
                <a:latin typeface="Arial"/>
                <a:ea typeface="Arial"/>
                <a:cs typeface="Arial"/>
                <a:sym typeface="Arial"/>
              </a:rPr>
              <a:t>InstructorDepartment</a:t>
            </a:r>
            <a:endParaRPr>
              <a:solidFill>
                <a:srgbClr val="212121"/>
              </a:solidFill>
              <a:latin typeface="Arial"/>
              <a:ea typeface="Arial"/>
              <a:cs typeface="Arial"/>
              <a:sym typeface="Arial"/>
            </a:endParaRPr>
          </a:p>
          <a:p>
            <a:pPr indent="-304800" lvl="1" marL="914400" rtl="0" algn="l">
              <a:spcBef>
                <a:spcPts val="0"/>
              </a:spcBef>
              <a:spcAft>
                <a:spcPts val="0"/>
              </a:spcAft>
              <a:buClr>
                <a:srgbClr val="212121"/>
              </a:buClr>
              <a:buSzPts val="1200"/>
              <a:buFont typeface="Arial"/>
              <a:buChar char="○"/>
            </a:pPr>
            <a:r>
              <a:rPr lang="en">
                <a:solidFill>
                  <a:srgbClr val="212121"/>
                </a:solidFill>
                <a:latin typeface="Arial"/>
                <a:ea typeface="Arial"/>
                <a:cs typeface="Arial"/>
                <a:sym typeface="Arial"/>
              </a:rPr>
              <a:t>Since an instructor could appear in many multiple departments, we </a:t>
            </a:r>
            <a:r>
              <a:rPr lang="en">
                <a:solidFill>
                  <a:srgbClr val="212121"/>
                </a:solidFill>
                <a:latin typeface="Arial"/>
                <a:ea typeface="Arial"/>
                <a:cs typeface="Arial"/>
                <a:sym typeface="Arial"/>
              </a:rPr>
              <a:t>created</a:t>
            </a:r>
            <a:r>
              <a:rPr lang="en">
                <a:solidFill>
                  <a:srgbClr val="212121"/>
                </a:solidFill>
                <a:latin typeface="Arial"/>
                <a:ea typeface="Arial"/>
                <a:cs typeface="Arial"/>
                <a:sym typeface="Arial"/>
              </a:rPr>
              <a:t> a bridge table.</a:t>
            </a:r>
            <a:endParaRPr>
              <a:solidFill>
                <a:srgbClr val="212121"/>
              </a:solidFill>
              <a:latin typeface="Arial"/>
              <a:ea typeface="Arial"/>
              <a:cs typeface="Arial"/>
              <a:sym typeface="Arial"/>
            </a:endParaRPr>
          </a:p>
        </p:txBody>
      </p:sp>
      <p:pic>
        <p:nvPicPr>
          <p:cNvPr id="85" name="Google Shape;85;g3b1290a4bfa_0_11"/>
          <p:cNvPicPr preferRelativeResize="0"/>
          <p:nvPr/>
        </p:nvPicPr>
        <p:blipFill>
          <a:blip r:embed="rId3">
            <a:alphaModFix/>
          </a:blip>
          <a:stretch>
            <a:fillRect/>
          </a:stretch>
        </p:blipFill>
        <p:spPr>
          <a:xfrm>
            <a:off x="88775" y="775225"/>
            <a:ext cx="4671050" cy="1885485"/>
          </a:xfrm>
          <a:prstGeom prst="rect">
            <a:avLst/>
          </a:prstGeom>
          <a:noFill/>
          <a:ln>
            <a:noFill/>
          </a:ln>
        </p:spPr>
      </p:pic>
      <p:pic>
        <p:nvPicPr>
          <p:cNvPr id="86" name="Google Shape;86;g3b1290a4bfa_0_11"/>
          <p:cNvPicPr preferRelativeResize="0"/>
          <p:nvPr/>
        </p:nvPicPr>
        <p:blipFill>
          <a:blip r:embed="rId4">
            <a:alphaModFix/>
          </a:blip>
          <a:stretch>
            <a:fillRect/>
          </a:stretch>
        </p:blipFill>
        <p:spPr>
          <a:xfrm>
            <a:off x="88775" y="2940975"/>
            <a:ext cx="4671050" cy="1484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b1290a4bfa_0_22"/>
          <p:cNvSpPr txBox="1"/>
          <p:nvPr>
            <p:ph type="title"/>
          </p:nvPr>
        </p:nvSpPr>
        <p:spPr>
          <a:xfrm>
            <a:off x="24275" y="0"/>
            <a:ext cx="61200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Department</a:t>
            </a:r>
            <a:endParaRPr/>
          </a:p>
        </p:txBody>
      </p:sp>
      <p:sp>
        <p:nvSpPr>
          <p:cNvPr id="92" name="Google Shape;92;g3b1290a4bfa_0_22"/>
          <p:cNvSpPr txBox="1"/>
          <p:nvPr>
            <p:ph idx="2" type="body"/>
          </p:nvPr>
        </p:nvSpPr>
        <p:spPr>
          <a:xfrm>
            <a:off x="4474075" y="661400"/>
            <a:ext cx="4206300" cy="4428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Font typeface="Arial"/>
              <a:buChar char="●"/>
            </a:pPr>
            <a:r>
              <a:rPr lang="en">
                <a:solidFill>
                  <a:srgbClr val="212121"/>
                </a:solidFill>
                <a:latin typeface="Arial"/>
                <a:ea typeface="Arial"/>
                <a:cs typeface="Arial"/>
                <a:sym typeface="Arial"/>
              </a:rPr>
              <a:t>Department</a:t>
            </a:r>
            <a:endParaRPr>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Department codes were shown as “ACCT 100 (3,3)” in the original table.</a:t>
            </a:r>
            <a:endParaRPr sz="1400">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Departments could just be retrieved from the first values before the space.</a:t>
            </a:r>
            <a:endParaRPr sz="1400">
              <a:solidFill>
                <a:srgbClr val="212121"/>
              </a:solidFill>
              <a:latin typeface="Arial"/>
              <a:ea typeface="Arial"/>
              <a:cs typeface="Arial"/>
              <a:sym typeface="Arial"/>
            </a:endParaRPr>
          </a:p>
          <a:p>
            <a:pPr indent="-317500" lvl="0" marL="457200" rtl="0" algn="l">
              <a:spcBef>
                <a:spcPts val="0"/>
              </a:spcBef>
              <a:spcAft>
                <a:spcPts val="0"/>
              </a:spcAft>
              <a:buClr>
                <a:srgbClr val="212121"/>
              </a:buClr>
              <a:buSzPts val="1400"/>
              <a:buFont typeface="Arial"/>
              <a:buChar char="●"/>
            </a:pPr>
            <a:r>
              <a:rPr lang="en">
                <a:solidFill>
                  <a:srgbClr val="212121"/>
                </a:solidFill>
                <a:latin typeface="Arial"/>
                <a:ea typeface="Arial"/>
                <a:cs typeface="Arial"/>
                <a:sym typeface="Arial"/>
              </a:rPr>
              <a:t>Course</a:t>
            </a:r>
            <a:endParaRPr>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The actual course name is just the “ACCT 100” part.</a:t>
            </a:r>
            <a:endParaRPr sz="1400">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Description was the course description, so renamed and added to the Course table.</a:t>
            </a:r>
            <a:endParaRPr sz="1400">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Since each course belongs to one department, it became a foreign key.</a:t>
            </a:r>
            <a:endParaRPr sz="1400">
              <a:solidFill>
                <a:srgbClr val="212121"/>
              </a:solidFill>
              <a:latin typeface="Arial"/>
              <a:ea typeface="Arial"/>
              <a:cs typeface="Arial"/>
              <a:sym typeface="Arial"/>
            </a:endParaRPr>
          </a:p>
          <a:p>
            <a:pPr indent="-317500" lvl="0" marL="457200" rtl="0" algn="l">
              <a:spcBef>
                <a:spcPts val="0"/>
              </a:spcBef>
              <a:spcAft>
                <a:spcPts val="0"/>
              </a:spcAft>
              <a:buClr>
                <a:srgbClr val="212121"/>
              </a:buClr>
              <a:buSzPts val="1400"/>
              <a:buFont typeface="Arial"/>
              <a:buChar char="●"/>
            </a:pPr>
            <a:r>
              <a:rPr lang="en">
                <a:solidFill>
                  <a:srgbClr val="212121"/>
                </a:solidFill>
                <a:latin typeface="Arial"/>
                <a:ea typeface="Arial"/>
                <a:cs typeface="Arial"/>
                <a:sym typeface="Arial"/>
              </a:rPr>
              <a:t>Semester</a:t>
            </a:r>
            <a:endParaRPr>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Semester needs to be </a:t>
            </a:r>
            <a:r>
              <a:rPr lang="en" sz="1400">
                <a:solidFill>
                  <a:srgbClr val="212121"/>
                </a:solidFill>
                <a:latin typeface="Arial"/>
                <a:ea typeface="Arial"/>
                <a:cs typeface="Arial"/>
                <a:sym typeface="Arial"/>
              </a:rPr>
              <a:t>separated</a:t>
            </a:r>
            <a:r>
              <a:rPr lang="en" sz="1400">
                <a:solidFill>
                  <a:srgbClr val="212121"/>
                </a:solidFill>
                <a:latin typeface="Arial"/>
                <a:ea typeface="Arial"/>
                <a:cs typeface="Arial"/>
                <a:sym typeface="Arial"/>
              </a:rPr>
              <a:t> as the same course could be taught in different semesters.</a:t>
            </a:r>
            <a:endParaRPr sz="1400">
              <a:solidFill>
                <a:srgbClr val="212121"/>
              </a:solidFill>
              <a:latin typeface="Arial"/>
              <a:ea typeface="Arial"/>
              <a:cs typeface="Arial"/>
              <a:sym typeface="Arial"/>
            </a:endParaRPr>
          </a:p>
        </p:txBody>
      </p:sp>
      <p:pic>
        <p:nvPicPr>
          <p:cNvPr id="93" name="Google Shape;93;g3b1290a4bfa_0_22"/>
          <p:cNvPicPr preferRelativeResize="0"/>
          <p:nvPr/>
        </p:nvPicPr>
        <p:blipFill>
          <a:blip r:embed="rId3">
            <a:alphaModFix/>
          </a:blip>
          <a:stretch>
            <a:fillRect/>
          </a:stretch>
        </p:blipFill>
        <p:spPr>
          <a:xfrm>
            <a:off x="106675" y="707400"/>
            <a:ext cx="4058801" cy="4429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b1290a4bfa_0_29"/>
          <p:cNvSpPr txBox="1"/>
          <p:nvPr>
            <p:ph type="title"/>
          </p:nvPr>
        </p:nvSpPr>
        <p:spPr>
          <a:xfrm>
            <a:off x="0"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Campus</a:t>
            </a:r>
            <a:endParaRPr/>
          </a:p>
        </p:txBody>
      </p:sp>
      <p:sp>
        <p:nvSpPr>
          <p:cNvPr id="99" name="Google Shape;99;g3b1290a4bfa_0_29"/>
          <p:cNvSpPr txBox="1"/>
          <p:nvPr>
            <p:ph idx="2" type="body"/>
          </p:nvPr>
        </p:nvSpPr>
        <p:spPr>
          <a:xfrm>
            <a:off x="4942725" y="1335775"/>
            <a:ext cx="3737700" cy="36333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212121"/>
              </a:buClr>
              <a:buSzPts val="1400"/>
              <a:buFont typeface="Arial"/>
              <a:buChar char="●"/>
            </a:pPr>
            <a:r>
              <a:rPr lang="en">
                <a:solidFill>
                  <a:srgbClr val="212121"/>
                </a:solidFill>
                <a:latin typeface="Arial"/>
                <a:ea typeface="Arial"/>
                <a:cs typeface="Arial"/>
                <a:sym typeface="Arial"/>
              </a:rPr>
              <a:t>Building</a:t>
            </a:r>
            <a:endParaRPr>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Original field was just a field called Location and showed “KY 419”.</a:t>
            </a:r>
            <a:endParaRPr sz="1400">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The first letters represent the building, so that is what gets stored in the BuildingName field.</a:t>
            </a:r>
            <a:endParaRPr sz="1400">
              <a:solidFill>
                <a:srgbClr val="212121"/>
              </a:solidFill>
              <a:latin typeface="Arial"/>
              <a:ea typeface="Arial"/>
              <a:cs typeface="Arial"/>
              <a:sym typeface="Arial"/>
            </a:endParaRPr>
          </a:p>
          <a:p>
            <a:pPr indent="-317500" lvl="0" marL="457200" rtl="0" algn="l">
              <a:spcBef>
                <a:spcPts val="0"/>
              </a:spcBef>
              <a:spcAft>
                <a:spcPts val="0"/>
              </a:spcAft>
              <a:buClr>
                <a:srgbClr val="212121"/>
              </a:buClr>
              <a:buSzPts val="1400"/>
              <a:buFont typeface="Arial"/>
              <a:buChar char="●"/>
            </a:pPr>
            <a:r>
              <a:rPr lang="en">
                <a:solidFill>
                  <a:srgbClr val="212121"/>
                </a:solidFill>
                <a:latin typeface="Arial"/>
                <a:ea typeface="Arial"/>
                <a:cs typeface="Arial"/>
                <a:sym typeface="Arial"/>
              </a:rPr>
              <a:t>ClassroomLocation</a:t>
            </a:r>
            <a:endParaRPr>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The ClassroomNumber is the number field of Location.</a:t>
            </a:r>
            <a:endParaRPr sz="1400">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Used BuildingId to link each room number to the actual building.</a:t>
            </a:r>
            <a:endParaRPr sz="1400">
              <a:solidFill>
                <a:srgbClr val="212121"/>
              </a:solidFill>
              <a:latin typeface="Arial"/>
              <a:ea typeface="Arial"/>
              <a:cs typeface="Arial"/>
              <a:sym typeface="Arial"/>
            </a:endParaRPr>
          </a:p>
        </p:txBody>
      </p:sp>
      <p:pic>
        <p:nvPicPr>
          <p:cNvPr id="100" name="Google Shape;100;g3b1290a4bfa_0_29"/>
          <p:cNvPicPr preferRelativeResize="0"/>
          <p:nvPr/>
        </p:nvPicPr>
        <p:blipFill>
          <a:blip r:embed="rId3">
            <a:alphaModFix/>
          </a:blip>
          <a:stretch>
            <a:fillRect/>
          </a:stretch>
        </p:blipFill>
        <p:spPr>
          <a:xfrm>
            <a:off x="-2" y="1194425"/>
            <a:ext cx="4872389" cy="1309000"/>
          </a:xfrm>
          <a:prstGeom prst="rect">
            <a:avLst/>
          </a:prstGeom>
          <a:noFill/>
          <a:ln>
            <a:noFill/>
          </a:ln>
        </p:spPr>
      </p:pic>
      <p:pic>
        <p:nvPicPr>
          <p:cNvPr id="101" name="Google Shape;101;g3b1290a4bfa_0_29"/>
          <p:cNvPicPr preferRelativeResize="0"/>
          <p:nvPr/>
        </p:nvPicPr>
        <p:blipFill>
          <a:blip r:embed="rId4">
            <a:alphaModFix/>
          </a:blip>
          <a:stretch>
            <a:fillRect/>
          </a:stretch>
        </p:blipFill>
        <p:spPr>
          <a:xfrm>
            <a:off x="0" y="2818448"/>
            <a:ext cx="4872375" cy="144215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b1290a4bfa_0_38"/>
          <p:cNvSpPr txBox="1"/>
          <p:nvPr>
            <p:ph type="title"/>
          </p:nvPr>
        </p:nvSpPr>
        <p:spPr>
          <a:xfrm>
            <a:off x="0"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a:t>
            </a:r>
            <a:endParaRPr/>
          </a:p>
        </p:txBody>
      </p:sp>
      <p:sp>
        <p:nvSpPr>
          <p:cNvPr id="107" name="Google Shape;107;g3b1290a4bfa_0_38"/>
          <p:cNvSpPr txBox="1"/>
          <p:nvPr>
            <p:ph idx="2" type="body"/>
          </p:nvPr>
        </p:nvSpPr>
        <p:spPr>
          <a:xfrm>
            <a:off x="4828425" y="715525"/>
            <a:ext cx="4003800" cy="4095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212121"/>
              </a:buClr>
              <a:buSzPts val="1400"/>
              <a:buFont typeface="Arial"/>
              <a:buChar char="●"/>
            </a:pPr>
            <a:r>
              <a:rPr lang="en">
                <a:solidFill>
                  <a:srgbClr val="212121"/>
                </a:solidFill>
                <a:latin typeface="Arial"/>
                <a:ea typeface="Arial"/>
                <a:cs typeface="Arial"/>
                <a:sym typeface="Arial"/>
              </a:rPr>
              <a:t>ClassSchedule</a:t>
            </a:r>
            <a:endParaRPr>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Same courses have different schedules, and modes so we created into its own table.</a:t>
            </a:r>
            <a:endParaRPr sz="1400">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Day and Time were used from the original table.</a:t>
            </a:r>
            <a:endParaRPr sz="1400">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Time was </a:t>
            </a:r>
            <a:r>
              <a:rPr lang="en" sz="1400">
                <a:solidFill>
                  <a:srgbClr val="212121"/>
                </a:solidFill>
                <a:latin typeface="Arial"/>
                <a:ea typeface="Arial"/>
                <a:cs typeface="Arial"/>
                <a:sym typeface="Arial"/>
              </a:rPr>
              <a:t>separated</a:t>
            </a:r>
            <a:r>
              <a:rPr lang="en" sz="1400">
                <a:solidFill>
                  <a:srgbClr val="212121"/>
                </a:solidFill>
                <a:latin typeface="Arial"/>
                <a:ea typeface="Arial"/>
                <a:cs typeface="Arial"/>
                <a:sym typeface="Arial"/>
              </a:rPr>
              <a:t> into StartTime and EndTime, while FullTime is just a computed field.</a:t>
            </a:r>
            <a:endParaRPr sz="1400">
              <a:solidFill>
                <a:srgbClr val="212121"/>
              </a:solidFill>
              <a:latin typeface="Arial"/>
              <a:ea typeface="Arial"/>
              <a:cs typeface="Arial"/>
              <a:sym typeface="Arial"/>
            </a:endParaRPr>
          </a:p>
          <a:p>
            <a:pPr indent="-317500" lvl="0" marL="457200" rtl="0" algn="l">
              <a:spcBef>
                <a:spcPts val="0"/>
              </a:spcBef>
              <a:spcAft>
                <a:spcPts val="0"/>
              </a:spcAft>
              <a:buClr>
                <a:srgbClr val="212121"/>
              </a:buClr>
              <a:buSzPts val="1400"/>
              <a:buFont typeface="Arial"/>
              <a:buChar char="●"/>
            </a:pPr>
            <a:r>
              <a:rPr lang="en">
                <a:solidFill>
                  <a:srgbClr val="212121"/>
                </a:solidFill>
                <a:latin typeface="Arial"/>
                <a:ea typeface="Arial"/>
                <a:cs typeface="Arial"/>
                <a:sym typeface="Arial"/>
              </a:rPr>
              <a:t>ModeOfInstruction</a:t>
            </a:r>
            <a:endParaRPr>
              <a:solidFill>
                <a:srgbClr val="212121"/>
              </a:solidFill>
              <a:latin typeface="Arial"/>
              <a:ea typeface="Arial"/>
              <a:cs typeface="Arial"/>
              <a:sym typeface="Arial"/>
            </a:endParaRPr>
          </a:p>
          <a:p>
            <a:pPr indent="-317500" lvl="1" marL="914400" rtl="0" algn="l">
              <a:spcBef>
                <a:spcPts val="0"/>
              </a:spcBef>
              <a:spcAft>
                <a:spcPts val="0"/>
              </a:spcAft>
              <a:buClr>
                <a:srgbClr val="212121"/>
              </a:buClr>
              <a:buSzPts val="1400"/>
              <a:buFont typeface="Arial"/>
              <a:buChar char="○"/>
            </a:pPr>
            <a:r>
              <a:rPr lang="en" sz="1400">
                <a:solidFill>
                  <a:srgbClr val="212121"/>
                </a:solidFill>
                <a:latin typeface="Arial"/>
                <a:ea typeface="Arial"/>
                <a:cs typeface="Arial"/>
                <a:sym typeface="Arial"/>
              </a:rPr>
              <a:t>Looking at the field “Mode of Instruction”, the same 4 values kept getting repeated so it was </a:t>
            </a:r>
            <a:r>
              <a:rPr lang="en" sz="1400">
                <a:solidFill>
                  <a:srgbClr val="212121"/>
                </a:solidFill>
                <a:latin typeface="Arial"/>
                <a:ea typeface="Arial"/>
                <a:cs typeface="Arial"/>
                <a:sym typeface="Arial"/>
              </a:rPr>
              <a:t>separated</a:t>
            </a:r>
            <a:r>
              <a:rPr lang="en" sz="1400">
                <a:solidFill>
                  <a:srgbClr val="212121"/>
                </a:solidFill>
                <a:latin typeface="Arial"/>
                <a:ea typeface="Arial"/>
                <a:cs typeface="Arial"/>
                <a:sym typeface="Arial"/>
              </a:rPr>
              <a:t> to its own table.</a:t>
            </a:r>
            <a:endParaRPr sz="1400">
              <a:solidFill>
                <a:srgbClr val="212121"/>
              </a:solidFill>
              <a:latin typeface="Arial"/>
              <a:ea typeface="Arial"/>
              <a:cs typeface="Arial"/>
              <a:sym typeface="Arial"/>
            </a:endParaRPr>
          </a:p>
        </p:txBody>
      </p:sp>
      <p:pic>
        <p:nvPicPr>
          <p:cNvPr id="108" name="Google Shape;108;g3b1290a4bfa_0_38"/>
          <p:cNvPicPr preferRelativeResize="0"/>
          <p:nvPr/>
        </p:nvPicPr>
        <p:blipFill>
          <a:blip r:embed="rId3">
            <a:alphaModFix/>
          </a:blip>
          <a:stretch>
            <a:fillRect/>
          </a:stretch>
        </p:blipFill>
        <p:spPr>
          <a:xfrm>
            <a:off x="140975" y="715513"/>
            <a:ext cx="4452025" cy="37124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b1290a4bfa_0_46"/>
          <p:cNvSpPr txBox="1"/>
          <p:nvPr>
            <p:ph type="title"/>
          </p:nvPr>
        </p:nvSpPr>
        <p:spPr>
          <a:xfrm>
            <a:off x="0"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 - Continued</a:t>
            </a:r>
            <a:endParaRPr/>
          </a:p>
        </p:txBody>
      </p:sp>
      <p:sp>
        <p:nvSpPr>
          <p:cNvPr id="114" name="Google Shape;114;g3b1290a4bfa_0_46"/>
          <p:cNvSpPr txBox="1"/>
          <p:nvPr>
            <p:ph idx="2" type="body"/>
          </p:nvPr>
        </p:nvSpPr>
        <p:spPr>
          <a:xfrm>
            <a:off x="4428375" y="707400"/>
            <a:ext cx="4403700" cy="38616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212121"/>
              </a:buClr>
              <a:buSzPts val="1400"/>
              <a:buFont typeface="Arial"/>
              <a:buChar char="●"/>
            </a:pPr>
            <a:r>
              <a:rPr lang="en">
                <a:solidFill>
                  <a:srgbClr val="212121"/>
                </a:solidFill>
                <a:latin typeface="Arial"/>
                <a:ea typeface="Arial"/>
                <a:cs typeface="Arial"/>
                <a:sym typeface="Arial"/>
              </a:rPr>
              <a:t>Class</a:t>
            </a:r>
            <a:endParaRPr>
              <a:solidFill>
                <a:srgbClr val="212121"/>
              </a:solidFill>
              <a:latin typeface="Arial"/>
              <a:ea typeface="Arial"/>
              <a:cs typeface="Arial"/>
              <a:sym typeface="Arial"/>
            </a:endParaRPr>
          </a:p>
          <a:p>
            <a:pPr indent="-304800" lvl="1" marL="914400" rtl="0" algn="l">
              <a:spcBef>
                <a:spcPts val="0"/>
              </a:spcBef>
              <a:spcAft>
                <a:spcPts val="0"/>
              </a:spcAft>
              <a:buClr>
                <a:srgbClr val="212121"/>
              </a:buClr>
              <a:buSzPts val="1200"/>
              <a:buFont typeface="Arial"/>
              <a:buChar char="○"/>
            </a:pPr>
            <a:r>
              <a:rPr lang="en">
                <a:solidFill>
                  <a:srgbClr val="212121"/>
                </a:solidFill>
                <a:latin typeface="Arial"/>
                <a:ea typeface="Arial"/>
                <a:cs typeface="Arial"/>
                <a:sym typeface="Arial"/>
              </a:rPr>
              <a:t>This is the table in the center that links all the other tables we created to see what an actual class looks like such as who is teaching it, what course is it, what time, where is it location, and what semester does this class </a:t>
            </a:r>
            <a:r>
              <a:rPr lang="en">
                <a:solidFill>
                  <a:srgbClr val="212121"/>
                </a:solidFill>
                <a:latin typeface="Arial"/>
                <a:ea typeface="Arial"/>
                <a:cs typeface="Arial"/>
                <a:sym typeface="Arial"/>
              </a:rPr>
              <a:t>appear</a:t>
            </a:r>
            <a:r>
              <a:rPr lang="en">
                <a:solidFill>
                  <a:srgbClr val="212121"/>
                </a:solidFill>
                <a:latin typeface="Arial"/>
                <a:ea typeface="Arial"/>
                <a:cs typeface="Arial"/>
                <a:sym typeface="Arial"/>
              </a:rPr>
              <a:t> in.</a:t>
            </a:r>
            <a:endParaRPr>
              <a:solidFill>
                <a:srgbClr val="212121"/>
              </a:solidFill>
              <a:latin typeface="Arial"/>
              <a:ea typeface="Arial"/>
              <a:cs typeface="Arial"/>
              <a:sym typeface="Arial"/>
            </a:endParaRPr>
          </a:p>
          <a:p>
            <a:pPr indent="-304800" lvl="1" marL="914400" rtl="0" algn="l">
              <a:spcBef>
                <a:spcPts val="0"/>
              </a:spcBef>
              <a:spcAft>
                <a:spcPts val="0"/>
              </a:spcAft>
              <a:buClr>
                <a:srgbClr val="212121"/>
              </a:buClr>
              <a:buSzPts val="1200"/>
              <a:buFont typeface="Arial"/>
              <a:buChar char="○"/>
            </a:pPr>
            <a:r>
              <a:rPr lang="en">
                <a:solidFill>
                  <a:srgbClr val="212121"/>
                </a:solidFill>
                <a:latin typeface="Arial"/>
                <a:ea typeface="Arial"/>
                <a:cs typeface="Arial"/>
                <a:sym typeface="Arial"/>
              </a:rPr>
              <a:t>Looking at values in the original table, some were empty, along with their times, so we just decided to make them TBD as one might see when register for a class.</a:t>
            </a:r>
            <a:endParaRPr>
              <a:solidFill>
                <a:srgbClr val="212121"/>
              </a:solidFill>
              <a:latin typeface="Arial"/>
              <a:ea typeface="Arial"/>
              <a:cs typeface="Arial"/>
              <a:sym typeface="Arial"/>
            </a:endParaRPr>
          </a:p>
          <a:p>
            <a:pPr indent="-304800" lvl="1" marL="914400" rtl="0" algn="l">
              <a:spcBef>
                <a:spcPts val="0"/>
              </a:spcBef>
              <a:spcAft>
                <a:spcPts val="0"/>
              </a:spcAft>
              <a:buClr>
                <a:srgbClr val="212121"/>
              </a:buClr>
              <a:buSzPts val="1200"/>
              <a:buFont typeface="Arial"/>
              <a:buChar char="○"/>
            </a:pPr>
            <a:r>
              <a:rPr lang="en">
                <a:solidFill>
                  <a:srgbClr val="212121"/>
                </a:solidFill>
                <a:latin typeface="Arial"/>
                <a:ea typeface="Arial"/>
                <a:cs typeface="Arial"/>
                <a:sym typeface="Arial"/>
              </a:rPr>
              <a:t>Enroll and Limit are class specific so they were added to this table.</a:t>
            </a:r>
            <a:endParaRPr>
              <a:solidFill>
                <a:srgbClr val="212121"/>
              </a:solidFill>
              <a:latin typeface="Arial"/>
              <a:ea typeface="Arial"/>
              <a:cs typeface="Arial"/>
              <a:sym typeface="Arial"/>
            </a:endParaRPr>
          </a:p>
          <a:p>
            <a:pPr indent="-304800" lvl="1" marL="914400" rtl="0" algn="l">
              <a:spcBef>
                <a:spcPts val="0"/>
              </a:spcBef>
              <a:spcAft>
                <a:spcPts val="0"/>
              </a:spcAft>
              <a:buClr>
                <a:srgbClr val="212121"/>
              </a:buClr>
              <a:buSzPts val="1200"/>
              <a:buFont typeface="Arial"/>
              <a:buChar char="○"/>
            </a:pPr>
            <a:r>
              <a:rPr lang="en">
                <a:solidFill>
                  <a:srgbClr val="212121"/>
                </a:solidFill>
                <a:latin typeface="Arial"/>
                <a:ea typeface="Arial"/>
                <a:cs typeface="Arial"/>
                <a:sym typeface="Arial"/>
              </a:rPr>
              <a:t>SectionNumber </a:t>
            </a:r>
            <a:r>
              <a:rPr lang="en">
                <a:solidFill>
                  <a:srgbClr val="212121"/>
                </a:solidFill>
                <a:latin typeface="Arial"/>
                <a:ea typeface="Arial"/>
                <a:cs typeface="Arial"/>
                <a:sym typeface="Arial"/>
              </a:rPr>
              <a:t>separates</a:t>
            </a:r>
            <a:r>
              <a:rPr lang="en">
                <a:solidFill>
                  <a:srgbClr val="212121"/>
                </a:solidFill>
                <a:latin typeface="Arial"/>
                <a:ea typeface="Arial"/>
                <a:cs typeface="Arial"/>
                <a:sym typeface="Arial"/>
              </a:rPr>
              <a:t> the same course being taught in the same semester.</a:t>
            </a:r>
            <a:endParaRPr>
              <a:solidFill>
                <a:srgbClr val="212121"/>
              </a:solidFill>
              <a:latin typeface="Arial"/>
              <a:ea typeface="Arial"/>
              <a:cs typeface="Arial"/>
              <a:sym typeface="Arial"/>
            </a:endParaRPr>
          </a:p>
        </p:txBody>
      </p:sp>
      <p:pic>
        <p:nvPicPr>
          <p:cNvPr id="115" name="Google Shape;115;g3b1290a4bfa_0_46"/>
          <p:cNvPicPr preferRelativeResize="0"/>
          <p:nvPr/>
        </p:nvPicPr>
        <p:blipFill>
          <a:blip r:embed="rId3">
            <a:alphaModFix/>
          </a:blip>
          <a:stretch>
            <a:fillRect/>
          </a:stretch>
        </p:blipFill>
        <p:spPr>
          <a:xfrm>
            <a:off x="0" y="690875"/>
            <a:ext cx="4219649" cy="2988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b1290a4bfa_0_54"/>
          <p:cNvSpPr txBox="1"/>
          <p:nvPr>
            <p:ph type="title"/>
          </p:nvPr>
        </p:nvSpPr>
        <p:spPr>
          <a:xfrm>
            <a:off x="0" y="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DbSecurity</a:t>
            </a:r>
            <a:endParaRPr/>
          </a:p>
        </p:txBody>
      </p:sp>
      <p:sp>
        <p:nvSpPr>
          <p:cNvPr id="121" name="Google Shape;121;g3b1290a4bfa_0_54"/>
          <p:cNvSpPr txBox="1"/>
          <p:nvPr>
            <p:ph idx="2" type="body"/>
          </p:nvPr>
        </p:nvSpPr>
        <p:spPr>
          <a:xfrm>
            <a:off x="4382650" y="1621525"/>
            <a:ext cx="4549200" cy="3200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212121"/>
              </a:buClr>
              <a:buSzPts val="1500"/>
              <a:buFont typeface="Arial"/>
              <a:buChar char="●"/>
            </a:pPr>
            <a:r>
              <a:rPr lang="en" sz="1500">
                <a:solidFill>
                  <a:srgbClr val="212121"/>
                </a:solidFill>
                <a:latin typeface="Arial"/>
                <a:ea typeface="Arial"/>
                <a:cs typeface="Arial"/>
                <a:sym typeface="Arial"/>
              </a:rPr>
              <a:t>This table is for auditing members of our group, and was required to be added.</a:t>
            </a:r>
            <a:endParaRPr sz="1500">
              <a:solidFill>
                <a:srgbClr val="212121"/>
              </a:solidFill>
              <a:latin typeface="Arial"/>
              <a:ea typeface="Arial"/>
              <a:cs typeface="Arial"/>
              <a:sym typeface="Arial"/>
            </a:endParaRPr>
          </a:p>
          <a:p>
            <a:pPr indent="-323850" lvl="0" marL="457200" rtl="0" algn="l">
              <a:spcBef>
                <a:spcPts val="0"/>
              </a:spcBef>
              <a:spcAft>
                <a:spcPts val="0"/>
              </a:spcAft>
              <a:buClr>
                <a:srgbClr val="212121"/>
              </a:buClr>
              <a:buSzPts val="1500"/>
              <a:buFont typeface="Arial"/>
              <a:buChar char="●"/>
            </a:pPr>
            <a:r>
              <a:rPr lang="en" sz="1500">
                <a:solidFill>
                  <a:srgbClr val="212121"/>
                </a:solidFill>
                <a:latin typeface="Arial"/>
                <a:ea typeface="Arial"/>
                <a:cs typeface="Arial"/>
                <a:sym typeface="Arial"/>
              </a:rPr>
              <a:t>Can be used for linking a student, when they are modifying or adding data in tables we made.</a:t>
            </a:r>
            <a:endParaRPr sz="1500">
              <a:solidFill>
                <a:srgbClr val="212121"/>
              </a:solidFill>
              <a:latin typeface="Arial"/>
              <a:ea typeface="Arial"/>
              <a:cs typeface="Arial"/>
              <a:sym typeface="Arial"/>
            </a:endParaRPr>
          </a:p>
        </p:txBody>
      </p:sp>
      <p:pic>
        <p:nvPicPr>
          <p:cNvPr id="122" name="Google Shape;122;g3b1290a4bfa_0_54"/>
          <p:cNvPicPr preferRelativeResize="0"/>
          <p:nvPr/>
        </p:nvPicPr>
        <p:blipFill>
          <a:blip r:embed="rId3">
            <a:alphaModFix/>
          </a:blip>
          <a:stretch>
            <a:fillRect/>
          </a:stretch>
        </p:blipFill>
        <p:spPr>
          <a:xfrm>
            <a:off x="205750" y="1829750"/>
            <a:ext cx="4051175" cy="1266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ab83d07921_0_13"/>
          <p:cNvSpPr txBox="1"/>
          <p:nvPr>
            <p:ph type="title"/>
          </p:nvPr>
        </p:nvSpPr>
        <p:spPr>
          <a:xfrm>
            <a:off x="286350" y="250350"/>
            <a:ext cx="8571300" cy="942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BRYAN</a:t>
            </a:r>
            <a:endParaRPr/>
          </a:p>
        </p:txBody>
      </p:sp>
      <p:sp>
        <p:nvSpPr>
          <p:cNvPr id="128" name="Google Shape;128;g3ab83d07921_0_13"/>
          <p:cNvSpPr txBox="1"/>
          <p:nvPr>
            <p:ph type="title"/>
          </p:nvPr>
        </p:nvSpPr>
        <p:spPr>
          <a:xfrm>
            <a:off x="2406450" y="1275100"/>
            <a:ext cx="4331100" cy="942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sz="2800"/>
              <a:t>DIAGRAMS</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b1290a4bfa_1_0"/>
          <p:cNvSpPr txBox="1"/>
          <p:nvPr>
            <p:ph type="title"/>
          </p:nvPr>
        </p:nvSpPr>
        <p:spPr>
          <a:xfrm>
            <a:off x="311700" y="445025"/>
            <a:ext cx="6629400" cy="599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WorkSteps</a:t>
            </a:r>
            <a:endParaRPr/>
          </a:p>
        </p:txBody>
      </p:sp>
      <p:pic>
        <p:nvPicPr>
          <p:cNvPr id="134" name="Google Shape;134;g3b1290a4bfa_1_0" title="image_2025-12-16_180140741.png"/>
          <p:cNvPicPr preferRelativeResize="0"/>
          <p:nvPr/>
        </p:nvPicPr>
        <p:blipFill>
          <a:blip r:embed="rId3">
            <a:alphaModFix/>
          </a:blip>
          <a:stretch>
            <a:fillRect/>
          </a:stretch>
        </p:blipFill>
        <p:spPr>
          <a:xfrm>
            <a:off x="152400" y="1196825"/>
            <a:ext cx="5069399" cy="3794274"/>
          </a:xfrm>
          <a:prstGeom prst="rect">
            <a:avLst/>
          </a:prstGeom>
          <a:noFill/>
          <a:ln>
            <a:noFill/>
          </a:ln>
        </p:spPr>
      </p:pic>
      <p:sp>
        <p:nvSpPr>
          <p:cNvPr id="135" name="Google Shape;135;g3b1290a4bfa_1_0"/>
          <p:cNvSpPr txBox="1"/>
          <p:nvPr/>
        </p:nvSpPr>
        <p:spPr>
          <a:xfrm>
            <a:off x="5649625" y="1361750"/>
            <a:ext cx="3270300" cy="353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Open Sans"/>
                <a:ea typeface="Open Sans"/>
                <a:cs typeface="Open Sans"/>
                <a:sym typeface="Open Sans"/>
              </a:rPr>
              <a:t>The classes aren’t apart of the data but are used for recording the steps of users.</a:t>
            </a:r>
            <a:endParaRPr sz="1200">
              <a:latin typeface="Open Sans"/>
              <a:ea typeface="Open Sans"/>
              <a:cs typeface="Open Sans"/>
              <a:sym typeface="Open Sans"/>
            </a:endParaRPr>
          </a:p>
          <a:p>
            <a:pPr indent="0" lvl="0" marL="0" rtl="0" algn="l">
              <a:spcBef>
                <a:spcPts val="0"/>
              </a:spcBef>
              <a:spcAft>
                <a:spcPts val="0"/>
              </a:spcAft>
              <a:buNone/>
            </a:pPr>
            <a:r>
              <a:t/>
            </a:r>
            <a:endParaRPr sz="1200">
              <a:latin typeface="Open Sans"/>
              <a:ea typeface="Open Sans"/>
              <a:cs typeface="Open Sans"/>
              <a:sym typeface="Open Sans"/>
            </a:endParaRPr>
          </a:p>
          <a:p>
            <a:pPr indent="0" lvl="0" marL="0" rtl="0" algn="l">
              <a:spcBef>
                <a:spcPts val="0"/>
              </a:spcBef>
              <a:spcAft>
                <a:spcPts val="0"/>
              </a:spcAft>
              <a:buNone/>
            </a:pPr>
            <a:r>
              <a:rPr lang="en" sz="1200">
                <a:latin typeface="Open Sans"/>
                <a:ea typeface="Open Sans"/>
                <a:cs typeface="Open Sans"/>
                <a:sym typeface="Open Sans"/>
              </a:rPr>
              <a:t>The user authorization is keeping track of each </a:t>
            </a:r>
            <a:r>
              <a:rPr lang="en" sz="1200">
                <a:latin typeface="Open Sans"/>
                <a:ea typeface="Open Sans"/>
                <a:cs typeface="Open Sans"/>
                <a:sym typeface="Open Sans"/>
              </a:rPr>
              <a:t>member</a:t>
            </a:r>
            <a:r>
              <a:rPr lang="en" sz="1200">
                <a:latin typeface="Open Sans"/>
                <a:ea typeface="Open Sans"/>
                <a:cs typeface="Open Sans"/>
                <a:sym typeface="Open Sans"/>
              </a:rPr>
              <a:t> and the </a:t>
            </a:r>
            <a:r>
              <a:rPr lang="en" sz="1200">
                <a:latin typeface="Open Sans"/>
                <a:ea typeface="Open Sans"/>
                <a:cs typeface="Open Sans"/>
                <a:sym typeface="Open Sans"/>
              </a:rPr>
              <a:t>general</a:t>
            </a:r>
            <a:r>
              <a:rPr lang="en" sz="1200">
                <a:latin typeface="Open Sans"/>
                <a:ea typeface="Open Sans"/>
                <a:cs typeface="Open Sans"/>
                <a:sym typeface="Open Sans"/>
              </a:rPr>
              <a:t> information</a:t>
            </a:r>
            <a:endParaRPr sz="1200">
              <a:latin typeface="Open Sans"/>
              <a:ea typeface="Open Sans"/>
              <a:cs typeface="Open Sans"/>
              <a:sym typeface="Open Sans"/>
            </a:endParaRPr>
          </a:p>
          <a:p>
            <a:pPr indent="0" lvl="0" marL="0" rtl="0" algn="l">
              <a:spcBef>
                <a:spcPts val="0"/>
              </a:spcBef>
              <a:spcAft>
                <a:spcPts val="0"/>
              </a:spcAft>
              <a:buNone/>
            </a:pPr>
            <a:r>
              <a:t/>
            </a:r>
            <a:endParaRPr sz="1200">
              <a:latin typeface="Open Sans"/>
              <a:ea typeface="Open Sans"/>
              <a:cs typeface="Open Sans"/>
              <a:sym typeface="Open Sans"/>
            </a:endParaRPr>
          </a:p>
          <a:p>
            <a:pPr indent="0" lvl="0" marL="0" rtl="0" algn="l">
              <a:spcBef>
                <a:spcPts val="0"/>
              </a:spcBef>
              <a:spcAft>
                <a:spcPts val="0"/>
              </a:spcAft>
              <a:buNone/>
            </a:pPr>
            <a:r>
              <a:rPr lang="en" sz="1200">
                <a:latin typeface="Open Sans"/>
                <a:ea typeface="Open Sans"/>
                <a:cs typeface="Open Sans"/>
                <a:sym typeface="Open Sans"/>
              </a:rPr>
              <a:t>Workflow</a:t>
            </a:r>
            <a:r>
              <a:rPr lang="en" sz="1200">
                <a:latin typeface="Open Sans"/>
                <a:ea typeface="Open Sans"/>
                <a:cs typeface="Open Sans"/>
                <a:sym typeface="Open Sans"/>
              </a:rPr>
              <a:t> steps table is used to record the specific steps that are taken while building the new database</a:t>
            </a:r>
            <a:endParaRPr sz="1200">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b1290a4bfa_2_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Faculty</a:t>
            </a:r>
            <a:endParaRPr/>
          </a:p>
        </p:txBody>
      </p:sp>
      <p:pic>
        <p:nvPicPr>
          <p:cNvPr id="141" name="Google Shape;141;g3b1290a4bfa_2_1" title="Screenshot 2025-12-16 180246.png"/>
          <p:cNvPicPr preferRelativeResize="0"/>
          <p:nvPr/>
        </p:nvPicPr>
        <p:blipFill>
          <a:blip r:embed="rId3">
            <a:alphaModFix/>
          </a:blip>
          <a:stretch>
            <a:fillRect/>
          </a:stretch>
        </p:blipFill>
        <p:spPr>
          <a:xfrm>
            <a:off x="152400" y="1304825"/>
            <a:ext cx="4410075" cy="3219450"/>
          </a:xfrm>
          <a:prstGeom prst="rect">
            <a:avLst/>
          </a:prstGeom>
          <a:noFill/>
          <a:ln>
            <a:noFill/>
          </a:ln>
        </p:spPr>
      </p:pic>
      <p:sp>
        <p:nvSpPr>
          <p:cNvPr id="142" name="Google Shape;142;g3b1290a4bfa_2_1"/>
          <p:cNvSpPr txBox="1"/>
          <p:nvPr/>
        </p:nvSpPr>
        <p:spPr>
          <a:xfrm>
            <a:off x="5524675" y="1551775"/>
            <a:ext cx="2913600" cy="18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Open Sans"/>
                <a:ea typeface="Open Sans"/>
                <a:cs typeface="Open Sans"/>
                <a:sym typeface="Open Sans"/>
              </a:rPr>
              <a:t>Faculty is showing all the columns and which houses the instructor table and their department</a:t>
            </a:r>
            <a:endParaRPr sz="1200">
              <a:latin typeface="Open Sans"/>
              <a:ea typeface="Open Sans"/>
              <a:cs typeface="Open Sans"/>
              <a:sym typeface="Open Sans"/>
            </a:endParaRPr>
          </a:p>
          <a:p>
            <a:pPr indent="0" lvl="0" marL="0" rtl="0" algn="l">
              <a:spcBef>
                <a:spcPts val="0"/>
              </a:spcBef>
              <a:spcAft>
                <a:spcPts val="0"/>
              </a:spcAft>
              <a:buNone/>
            </a:pPr>
            <a:r>
              <a:t/>
            </a:r>
            <a:endParaRPr sz="1200">
              <a:latin typeface="Open Sans"/>
              <a:ea typeface="Open Sans"/>
              <a:cs typeface="Open Sans"/>
              <a:sym typeface="Open Sans"/>
            </a:endParaRPr>
          </a:p>
          <a:p>
            <a:pPr indent="0" lvl="0" marL="0" rtl="0" algn="l">
              <a:spcBef>
                <a:spcPts val="0"/>
              </a:spcBef>
              <a:spcAft>
                <a:spcPts val="0"/>
              </a:spcAft>
              <a:buNone/>
            </a:pPr>
            <a:r>
              <a:rPr lang="en" sz="1200">
                <a:latin typeface="Open Sans"/>
                <a:ea typeface="Open Sans"/>
                <a:cs typeface="Open Sans"/>
                <a:sym typeface="Open Sans"/>
              </a:rPr>
              <a:t>The diagram would show the Schema it is under, </a:t>
            </a:r>
            <a:r>
              <a:rPr lang="en" sz="1200">
                <a:latin typeface="Open Sans"/>
                <a:ea typeface="Open Sans"/>
                <a:cs typeface="Open Sans"/>
                <a:sym typeface="Open Sans"/>
              </a:rPr>
              <a:t>which</a:t>
            </a:r>
            <a:r>
              <a:rPr lang="en" sz="1200">
                <a:latin typeface="Open Sans"/>
                <a:ea typeface="Open Sans"/>
                <a:cs typeface="Open Sans"/>
                <a:sym typeface="Open Sans"/>
              </a:rPr>
              <a:t> are the UDTs</a:t>
            </a:r>
            <a:endParaRPr sz="1200">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b1290a4bfa_2_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College Catalog</a:t>
            </a:r>
            <a:endParaRPr/>
          </a:p>
        </p:txBody>
      </p:sp>
      <p:pic>
        <p:nvPicPr>
          <p:cNvPr id="148" name="Google Shape;148;g3b1290a4bfa_2_8" title="image_2025-12-16_180450068.png"/>
          <p:cNvPicPr preferRelativeResize="0"/>
          <p:nvPr/>
        </p:nvPicPr>
        <p:blipFill>
          <a:blip r:embed="rId3">
            <a:alphaModFix/>
          </a:blip>
          <a:stretch>
            <a:fillRect/>
          </a:stretch>
        </p:blipFill>
        <p:spPr>
          <a:xfrm>
            <a:off x="571225" y="1238700"/>
            <a:ext cx="4361926" cy="3686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b1290a4bfa_2_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Campus</a:t>
            </a:r>
            <a:endParaRPr/>
          </a:p>
        </p:txBody>
      </p:sp>
      <p:pic>
        <p:nvPicPr>
          <p:cNvPr id="154" name="Google Shape;154;g3b1290a4bfa_2_15" title="image_2025-12-16_180513438.png"/>
          <p:cNvPicPr preferRelativeResize="0"/>
          <p:nvPr/>
        </p:nvPicPr>
        <p:blipFill>
          <a:blip r:embed="rId3">
            <a:alphaModFix/>
          </a:blip>
          <a:stretch>
            <a:fillRect/>
          </a:stretch>
        </p:blipFill>
        <p:spPr>
          <a:xfrm>
            <a:off x="152400" y="1304825"/>
            <a:ext cx="5389545" cy="3686275"/>
          </a:xfrm>
          <a:prstGeom prst="rect">
            <a:avLst/>
          </a:prstGeom>
          <a:noFill/>
          <a:ln>
            <a:noFill/>
          </a:ln>
        </p:spPr>
      </p:pic>
      <p:sp>
        <p:nvSpPr>
          <p:cNvPr id="155" name="Google Shape;155;g3b1290a4bfa_2_15"/>
          <p:cNvSpPr txBox="1"/>
          <p:nvPr/>
        </p:nvSpPr>
        <p:spPr>
          <a:xfrm>
            <a:off x="5946950" y="1272550"/>
            <a:ext cx="2965800" cy="354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b1290a4bfa_2_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 Session</a:t>
            </a:r>
            <a:endParaRPr/>
          </a:p>
        </p:txBody>
      </p:sp>
      <p:pic>
        <p:nvPicPr>
          <p:cNvPr id="161" name="Google Shape;161;g3b1290a4bfa_2_21" title="image_2025-12-16_180539085.png"/>
          <p:cNvPicPr preferRelativeResize="0"/>
          <p:nvPr/>
        </p:nvPicPr>
        <p:blipFill>
          <a:blip r:embed="rId3">
            <a:alphaModFix/>
          </a:blip>
          <a:stretch>
            <a:fillRect/>
          </a:stretch>
        </p:blipFill>
        <p:spPr>
          <a:xfrm>
            <a:off x="152400" y="1304825"/>
            <a:ext cx="3170750" cy="3686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b1290a4bfa_3_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ERD</a:t>
            </a:r>
            <a:endParaRPr/>
          </a:p>
        </p:txBody>
      </p:sp>
      <p:pic>
        <p:nvPicPr>
          <p:cNvPr id="167" name="Google Shape;167;g3b1290a4bfa_3_3" title="image_2025-12-16_181738176.png"/>
          <p:cNvPicPr preferRelativeResize="0"/>
          <p:nvPr/>
        </p:nvPicPr>
        <p:blipFill>
          <a:blip r:embed="rId3">
            <a:alphaModFix/>
          </a:blip>
          <a:stretch>
            <a:fillRect/>
          </a:stretch>
        </p:blipFill>
        <p:spPr>
          <a:xfrm>
            <a:off x="152400" y="1304825"/>
            <a:ext cx="6471769" cy="3686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ab83d07921_0_9"/>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DEVAK</a:t>
            </a:r>
            <a:endParaRPr/>
          </a:p>
        </p:txBody>
      </p:sp>
      <p:sp>
        <p:nvSpPr>
          <p:cNvPr id="173" name="Google Shape;173;g3ab83d07921_0_9"/>
          <p:cNvSpPr txBox="1"/>
          <p:nvPr>
            <p:ph type="title"/>
          </p:nvPr>
        </p:nvSpPr>
        <p:spPr>
          <a:xfrm>
            <a:off x="2431800" y="1503725"/>
            <a:ext cx="4331100" cy="942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sz="2800"/>
              <a:t>UDTs</a:t>
            </a:r>
            <a:endParaRPr sz="2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b1290a4bfa_6_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PrimaryKeys.SurrogateKey</a:t>
            </a:r>
            <a:endParaRPr/>
          </a:p>
        </p:txBody>
      </p:sp>
      <p:pic>
        <p:nvPicPr>
          <p:cNvPr id="179" name="Google Shape;179;g3b1290a4bfa_6_0" title="Screenshot 2025-12-16 at 7.49.19 PM.png"/>
          <p:cNvPicPr preferRelativeResize="0"/>
          <p:nvPr/>
        </p:nvPicPr>
        <p:blipFill>
          <a:blip r:embed="rId3">
            <a:alphaModFix/>
          </a:blip>
          <a:stretch>
            <a:fillRect/>
          </a:stretch>
        </p:blipFill>
        <p:spPr>
          <a:xfrm>
            <a:off x="152400" y="1304825"/>
            <a:ext cx="8839201" cy="703528"/>
          </a:xfrm>
          <a:prstGeom prst="rect">
            <a:avLst/>
          </a:prstGeom>
          <a:noFill/>
          <a:ln>
            <a:noFill/>
          </a:ln>
        </p:spPr>
      </p:pic>
      <p:sp>
        <p:nvSpPr>
          <p:cNvPr id="180" name="Google Shape;180;g3b1290a4bfa_6_0"/>
          <p:cNvSpPr txBox="1"/>
          <p:nvPr/>
        </p:nvSpPr>
        <p:spPr>
          <a:xfrm>
            <a:off x="311700" y="2239350"/>
            <a:ext cx="6756300" cy="24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Open Sans"/>
                <a:ea typeface="Open Sans"/>
                <a:cs typeface="Open Sans"/>
                <a:sym typeface="Open Sans"/>
              </a:rPr>
              <a:t>PrimaryKeys.Surrogate</a:t>
            </a:r>
            <a:r>
              <a:rPr lang="en" sz="1200">
                <a:solidFill>
                  <a:schemeClr val="dk2"/>
                </a:solidFill>
                <a:latin typeface="Open Sans"/>
                <a:ea typeface="Open Sans"/>
                <a:cs typeface="Open Sans"/>
                <a:sym typeface="Open Sans"/>
              </a:rPr>
              <a:t> is the UDT created for any primary keys that are needed in the database</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rPr lang="en" sz="1200">
                <a:solidFill>
                  <a:schemeClr val="dk2"/>
                </a:solidFill>
                <a:latin typeface="Open Sans"/>
                <a:ea typeface="Open Sans"/>
                <a:cs typeface="Open Sans"/>
                <a:sym typeface="Open Sans"/>
              </a:rPr>
              <a:t>The usage for this is </a:t>
            </a:r>
            <a:r>
              <a:rPr b="1" lang="en" sz="1200" u="sng">
                <a:solidFill>
                  <a:schemeClr val="dk2"/>
                </a:solidFill>
                <a:latin typeface="Open Sans"/>
                <a:ea typeface="Open Sans"/>
                <a:cs typeface="Open Sans"/>
                <a:sym typeface="Open Sans"/>
              </a:rPr>
              <a:t>SurrogateKey</a:t>
            </a:r>
            <a:r>
              <a:rPr lang="en" sz="1200">
                <a:solidFill>
                  <a:schemeClr val="dk2"/>
                </a:solidFill>
                <a:latin typeface="Open Sans"/>
                <a:ea typeface="Open Sans"/>
                <a:cs typeface="Open Sans"/>
                <a:sym typeface="Open Sans"/>
              </a:rPr>
              <a:t> which is shown in a snip of the table diagram. All of the primary keys will use this and will have the </a:t>
            </a:r>
            <a:r>
              <a:rPr lang="en" sz="1200">
                <a:solidFill>
                  <a:schemeClr val="dk2"/>
                </a:solidFill>
                <a:latin typeface="Open Sans"/>
                <a:ea typeface="Open Sans"/>
                <a:cs typeface="Open Sans"/>
                <a:sym typeface="Open Sans"/>
              </a:rPr>
              <a:t>following</a:t>
            </a:r>
            <a:r>
              <a:rPr lang="en" sz="1200">
                <a:solidFill>
                  <a:schemeClr val="dk2"/>
                </a:solidFill>
                <a:latin typeface="Open Sans"/>
                <a:ea typeface="Open Sans"/>
                <a:cs typeface="Open Sans"/>
                <a:sym typeface="Open Sans"/>
              </a:rPr>
              <a:t> constraints:</a:t>
            </a:r>
            <a:br>
              <a:rPr lang="en" sz="1200">
                <a:solidFill>
                  <a:schemeClr val="dk2"/>
                </a:solidFill>
                <a:latin typeface="Open Sans"/>
                <a:ea typeface="Open Sans"/>
                <a:cs typeface="Open Sans"/>
                <a:sym typeface="Open Sans"/>
              </a:rPr>
            </a:br>
            <a:endParaRPr sz="1200">
              <a:solidFill>
                <a:schemeClr val="dk2"/>
              </a:solidFill>
              <a:latin typeface="Open Sans"/>
              <a:ea typeface="Open Sans"/>
              <a:cs typeface="Open Sans"/>
              <a:sym typeface="Open Sans"/>
            </a:endParaRPr>
          </a:p>
          <a:p>
            <a:pPr indent="-304800" lvl="0" marL="457200" rtl="0" algn="l">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PK, NOT NULL</a:t>
            </a:r>
            <a:endParaRPr sz="1200">
              <a:solidFill>
                <a:schemeClr val="dk2"/>
              </a:solidFill>
              <a:latin typeface="Open Sans"/>
              <a:ea typeface="Open Sans"/>
              <a:cs typeface="Open Sans"/>
              <a:sym typeface="Open Sans"/>
            </a:endParaRPr>
          </a:p>
          <a:p>
            <a:pPr indent="-304800" lvl="0" marL="457200" rtl="0" algn="l">
              <a:spcBef>
                <a:spcPts val="0"/>
              </a:spcBef>
              <a:spcAft>
                <a:spcPts val="0"/>
              </a:spcAft>
              <a:buClr>
                <a:schemeClr val="dk2"/>
              </a:buClr>
              <a:buSzPts val="1200"/>
              <a:buFont typeface="Open Sans"/>
              <a:buChar char="●"/>
            </a:pPr>
            <a:r>
              <a:rPr lang="en" sz="1200">
                <a:solidFill>
                  <a:schemeClr val="dk2"/>
                </a:solidFill>
                <a:latin typeface="Open Sans"/>
                <a:ea typeface="Open Sans"/>
                <a:cs typeface="Open Sans"/>
                <a:sym typeface="Open Sans"/>
              </a:rPr>
              <a:t>IDENTITY(1,1)</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rPr lang="en" sz="1200">
                <a:solidFill>
                  <a:schemeClr val="dk2"/>
                </a:solidFill>
                <a:latin typeface="Open Sans"/>
                <a:ea typeface="Open Sans"/>
                <a:cs typeface="Open Sans"/>
                <a:sym typeface="Open Sans"/>
              </a:rPr>
              <a:t>These constraints will ensure that the primary key cannot be null and that it can be updated on it’s own. Meaning that if we add another row of data, the primary key (if the previous was 12) will be 13 without </a:t>
            </a:r>
            <a:r>
              <a:rPr lang="en" sz="1200">
                <a:solidFill>
                  <a:schemeClr val="dk2"/>
                </a:solidFill>
                <a:latin typeface="Open Sans"/>
                <a:ea typeface="Open Sans"/>
                <a:cs typeface="Open Sans"/>
                <a:sym typeface="Open Sans"/>
              </a:rPr>
              <a:t>explicitly</a:t>
            </a:r>
            <a:r>
              <a:rPr lang="en" sz="1200">
                <a:solidFill>
                  <a:schemeClr val="dk2"/>
                </a:solidFill>
                <a:latin typeface="Open Sans"/>
                <a:ea typeface="Open Sans"/>
                <a:cs typeface="Open Sans"/>
                <a:sym typeface="Open Sans"/>
              </a:rPr>
              <a:t> saying it</a:t>
            </a:r>
            <a:endParaRPr sz="1200">
              <a:solidFill>
                <a:schemeClr val="dk2"/>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b1290a4bfa_8_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UserAuthorizationKey     Udt.SurrogateKeyInt</a:t>
            </a:r>
            <a:endParaRPr/>
          </a:p>
        </p:txBody>
      </p:sp>
      <p:sp>
        <p:nvSpPr>
          <p:cNvPr id="186" name="Google Shape;186;g3b1290a4bfa_8_21"/>
          <p:cNvSpPr txBox="1"/>
          <p:nvPr>
            <p:ph idx="1" type="body"/>
          </p:nvPr>
        </p:nvSpPr>
        <p:spPr>
          <a:xfrm>
            <a:off x="311700" y="2568000"/>
            <a:ext cx="8520600" cy="25155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lang="en" sz="4000"/>
              <a:t>SurrogateKeyInt is a UDT created to represent all surrogate keys used throughout the database.</a:t>
            </a:r>
            <a:endParaRPr sz="4000"/>
          </a:p>
          <a:p>
            <a:pPr indent="0" lvl="0" marL="0" rtl="0" algn="l">
              <a:spcBef>
                <a:spcPts val="1200"/>
              </a:spcBef>
              <a:spcAft>
                <a:spcPts val="0"/>
              </a:spcAft>
              <a:buNone/>
            </a:pPr>
            <a:r>
              <a:rPr lang="en" sz="4000"/>
              <a:t>This UDT is primarily used for primary keys and foreign keys, such as UserAuthorizationKey, to ensure a consistent integer-based identity strategy.</a:t>
            </a:r>
            <a:endParaRPr sz="4000"/>
          </a:p>
          <a:p>
            <a:pPr indent="0" lvl="0" marL="0" rtl="0" algn="l">
              <a:spcBef>
                <a:spcPts val="1200"/>
              </a:spcBef>
              <a:spcAft>
                <a:spcPts val="0"/>
              </a:spcAft>
              <a:buNone/>
            </a:pPr>
            <a:r>
              <a:rPr lang="en" sz="4000"/>
              <a:t>Using a shared surrogate key UDT allows relationships between tables to be enforced reliably while keeping business data independent from identifiers.</a:t>
            </a:r>
            <a:endParaRPr sz="4000"/>
          </a:p>
          <a:p>
            <a:pPr indent="0" lvl="0" marL="0" rtl="0" algn="l">
              <a:spcBef>
                <a:spcPts val="1200"/>
              </a:spcBef>
              <a:spcAft>
                <a:spcPts val="0"/>
              </a:spcAft>
              <a:buNone/>
            </a:pPr>
            <a:r>
              <a:rPr b="1" lang="en" sz="4000">
                <a:solidFill>
                  <a:srgbClr val="000000"/>
                </a:solidFill>
                <a:latin typeface="Arial"/>
                <a:ea typeface="Arial"/>
                <a:cs typeface="Arial"/>
                <a:sym typeface="Arial"/>
              </a:rPr>
              <a:t>Constraints</a:t>
            </a:r>
            <a:endParaRPr b="1" sz="4000">
              <a:solidFill>
                <a:srgbClr val="000000"/>
              </a:solidFill>
              <a:latin typeface="Arial"/>
              <a:ea typeface="Arial"/>
              <a:cs typeface="Arial"/>
              <a:sym typeface="Arial"/>
            </a:endParaRPr>
          </a:p>
          <a:p>
            <a:pPr indent="-292100" lvl="0" marL="457200" rtl="0" algn="l">
              <a:spcBef>
                <a:spcPts val="1200"/>
              </a:spcBef>
              <a:spcAft>
                <a:spcPts val="0"/>
              </a:spcAft>
              <a:buClr>
                <a:srgbClr val="000000"/>
              </a:buClr>
              <a:buSzPct val="100000"/>
              <a:buFont typeface="Arial"/>
              <a:buChar char="●"/>
            </a:pPr>
            <a:r>
              <a:rPr lang="en" sz="4000">
                <a:solidFill>
                  <a:srgbClr val="000000"/>
                </a:solidFill>
                <a:latin typeface="Arial"/>
                <a:ea typeface="Arial"/>
                <a:cs typeface="Arial"/>
                <a:sym typeface="Arial"/>
              </a:rPr>
              <a:t>Integer data type</a:t>
            </a:r>
            <a:endParaRPr sz="4000">
              <a:solidFill>
                <a:srgbClr val="000000"/>
              </a:solidFill>
              <a:latin typeface="Arial"/>
              <a:ea typeface="Arial"/>
              <a:cs typeface="Arial"/>
              <a:sym typeface="Arial"/>
            </a:endParaRPr>
          </a:p>
          <a:p>
            <a:pPr indent="-292100" lvl="0" marL="457200" rtl="0" algn="l">
              <a:spcBef>
                <a:spcPts val="0"/>
              </a:spcBef>
              <a:spcAft>
                <a:spcPts val="0"/>
              </a:spcAft>
              <a:buClr>
                <a:srgbClr val="000000"/>
              </a:buClr>
              <a:buSzPct val="100000"/>
              <a:buFont typeface="Arial"/>
              <a:buChar char="●"/>
            </a:pPr>
            <a:r>
              <a:rPr lang="en" sz="4000">
                <a:solidFill>
                  <a:srgbClr val="000000"/>
                </a:solidFill>
                <a:latin typeface="Arial"/>
                <a:ea typeface="Arial"/>
                <a:cs typeface="Arial"/>
                <a:sym typeface="Arial"/>
              </a:rPr>
              <a:t>NOT NULL when used as a foreign key</a:t>
            </a:r>
            <a:endParaRPr sz="4000">
              <a:solidFill>
                <a:srgbClr val="000000"/>
              </a:solidFill>
              <a:latin typeface="Arial"/>
              <a:ea typeface="Arial"/>
              <a:cs typeface="Arial"/>
              <a:sym typeface="Arial"/>
            </a:endParaRPr>
          </a:p>
          <a:p>
            <a:pPr indent="0" lvl="0" marL="0" rtl="0" algn="l">
              <a:spcBef>
                <a:spcPts val="1200"/>
              </a:spcBef>
              <a:spcAft>
                <a:spcPts val="0"/>
              </a:spcAft>
              <a:buNone/>
            </a:pPr>
            <a:r>
              <a:rPr b="1" lang="en" sz="4000">
                <a:solidFill>
                  <a:srgbClr val="000000"/>
                </a:solidFill>
                <a:latin typeface="Arial"/>
                <a:ea typeface="Arial"/>
                <a:cs typeface="Arial"/>
                <a:sym typeface="Arial"/>
              </a:rPr>
              <a:t>Defaults</a:t>
            </a:r>
            <a:endParaRPr b="1" sz="4000">
              <a:solidFill>
                <a:srgbClr val="000000"/>
              </a:solidFill>
              <a:latin typeface="Arial"/>
              <a:ea typeface="Arial"/>
              <a:cs typeface="Arial"/>
              <a:sym typeface="Arial"/>
            </a:endParaRPr>
          </a:p>
          <a:p>
            <a:pPr indent="-292100" lvl="0" marL="457200" rtl="0" algn="l">
              <a:spcBef>
                <a:spcPts val="1200"/>
              </a:spcBef>
              <a:spcAft>
                <a:spcPts val="0"/>
              </a:spcAft>
              <a:buClr>
                <a:srgbClr val="000000"/>
              </a:buClr>
              <a:buSzPct val="100000"/>
              <a:buFont typeface="Arial"/>
              <a:buChar char="●"/>
            </a:pPr>
            <a:r>
              <a:rPr lang="en" sz="4000">
                <a:solidFill>
                  <a:srgbClr val="000000"/>
                </a:solidFill>
                <a:latin typeface="Arial"/>
                <a:ea typeface="Arial"/>
                <a:cs typeface="Arial"/>
                <a:sym typeface="Arial"/>
              </a:rPr>
              <a:t>No default value (must reference an existing key)</a:t>
            </a:r>
            <a:endParaRPr sz="400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p:txBody>
      </p:sp>
      <p:pic>
        <p:nvPicPr>
          <p:cNvPr id="187" name="Google Shape;187;g3b1290a4bfa_8_21" title="Screenshot 2025-12-16 at 9.56.51 PM.png"/>
          <p:cNvPicPr preferRelativeResize="0"/>
          <p:nvPr/>
        </p:nvPicPr>
        <p:blipFill>
          <a:blip r:embed="rId3">
            <a:alphaModFix/>
          </a:blip>
          <a:stretch>
            <a:fillRect/>
          </a:stretch>
        </p:blipFill>
        <p:spPr>
          <a:xfrm>
            <a:off x="171450" y="1036863"/>
            <a:ext cx="8801100" cy="1400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b1290a4bfa_8_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Faculty . Name and Person.FullName</a:t>
            </a:r>
            <a:endParaRPr/>
          </a:p>
        </p:txBody>
      </p:sp>
      <p:pic>
        <p:nvPicPr>
          <p:cNvPr id="193" name="Google Shape;193;g3b1290a4bfa_8_0" title="Screenshot 2025-12-16 at 8.11.35 PM.png"/>
          <p:cNvPicPr preferRelativeResize="0"/>
          <p:nvPr/>
        </p:nvPicPr>
        <p:blipFill>
          <a:blip r:embed="rId3">
            <a:alphaModFix/>
          </a:blip>
          <a:stretch>
            <a:fillRect/>
          </a:stretch>
        </p:blipFill>
        <p:spPr>
          <a:xfrm>
            <a:off x="152400" y="1304825"/>
            <a:ext cx="6915550" cy="1068275"/>
          </a:xfrm>
          <a:prstGeom prst="rect">
            <a:avLst/>
          </a:prstGeom>
          <a:noFill/>
          <a:ln>
            <a:noFill/>
          </a:ln>
        </p:spPr>
      </p:pic>
      <p:sp>
        <p:nvSpPr>
          <p:cNvPr id="194" name="Google Shape;194;g3b1290a4bfa_8_0"/>
          <p:cNvSpPr txBox="1"/>
          <p:nvPr/>
        </p:nvSpPr>
        <p:spPr>
          <a:xfrm>
            <a:off x="236175" y="2466750"/>
            <a:ext cx="8257500" cy="198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Open Sans"/>
                <a:ea typeface="Open Sans"/>
                <a:cs typeface="Open Sans"/>
                <a:sym typeface="Open Sans"/>
              </a:rPr>
              <a:t>Name and Person Full name are both UDTS to distinguish the data types involving names.</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rPr lang="en" sz="1200">
                <a:solidFill>
                  <a:schemeClr val="dk2"/>
                </a:solidFill>
                <a:latin typeface="Open Sans"/>
                <a:ea typeface="Open Sans"/>
                <a:cs typeface="Open Sans"/>
                <a:sym typeface="Open Sans"/>
              </a:rPr>
              <a:t>The reason for 2 different ones is one belongs to Faculty (Hence Faculty . Name), meaning that this will only reference the table and the data will always </a:t>
            </a:r>
            <a:r>
              <a:rPr lang="en" sz="1200">
                <a:solidFill>
                  <a:schemeClr val="dk2"/>
                </a:solidFill>
                <a:latin typeface="Open Sans"/>
                <a:ea typeface="Open Sans"/>
                <a:cs typeface="Open Sans"/>
                <a:sym typeface="Open Sans"/>
              </a:rPr>
              <a:t>belong</a:t>
            </a:r>
            <a:r>
              <a:rPr lang="en" sz="1200">
                <a:solidFill>
                  <a:schemeClr val="dk2"/>
                </a:solidFill>
                <a:latin typeface="Open Sans"/>
                <a:ea typeface="Open Sans"/>
                <a:cs typeface="Open Sans"/>
                <a:sym typeface="Open Sans"/>
              </a:rPr>
              <a:t> to an instructor or worker</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rPr lang="en" sz="1200">
                <a:solidFill>
                  <a:schemeClr val="dk2"/>
                </a:solidFill>
                <a:latin typeface="Open Sans"/>
                <a:ea typeface="Open Sans"/>
                <a:cs typeface="Open Sans"/>
                <a:sym typeface="Open Sans"/>
              </a:rPr>
              <a:t>Person.Full name is </a:t>
            </a:r>
            <a:r>
              <a:rPr lang="en" sz="1200">
                <a:solidFill>
                  <a:schemeClr val="dk2"/>
                </a:solidFill>
                <a:latin typeface="Open Sans"/>
                <a:ea typeface="Open Sans"/>
                <a:cs typeface="Open Sans"/>
                <a:sym typeface="Open Sans"/>
              </a:rPr>
              <a:t>referring</a:t>
            </a:r>
            <a:r>
              <a:rPr lang="en" sz="1200">
                <a:solidFill>
                  <a:schemeClr val="dk2"/>
                </a:solidFill>
                <a:latin typeface="Open Sans"/>
                <a:ea typeface="Open Sans"/>
                <a:cs typeface="Open Sans"/>
                <a:sym typeface="Open Sans"/>
              </a:rPr>
              <a:t> to a broad usage for any other person which we can say student, TA, etc.</a:t>
            </a:r>
            <a:endParaRPr sz="1200">
              <a:solidFill>
                <a:schemeClr val="dk2"/>
              </a:solidFill>
              <a:latin typeface="Open Sans"/>
              <a:ea typeface="Open Sans"/>
              <a:cs typeface="Open Sans"/>
              <a:sym typeface="Open Sans"/>
            </a:endParaRPr>
          </a:p>
          <a:p>
            <a:pPr indent="0" lvl="0" marL="0" rtl="0" algn="l">
              <a:spcBef>
                <a:spcPts val="0"/>
              </a:spcBef>
              <a:spcAft>
                <a:spcPts val="0"/>
              </a:spcAft>
              <a:buNone/>
            </a:pPr>
            <a:r>
              <a:rPr lang="en" sz="1200">
                <a:solidFill>
                  <a:schemeClr val="dk2"/>
                </a:solidFill>
                <a:latin typeface="Open Sans"/>
                <a:ea typeface="Open Sans"/>
                <a:cs typeface="Open Sans"/>
                <a:sym typeface="Open Sans"/>
              </a:rPr>
              <a:t>Faculty . Name has constraints :</a:t>
            </a:r>
            <a:br>
              <a:rPr lang="en" sz="1200">
                <a:solidFill>
                  <a:schemeClr val="dk2"/>
                </a:solidFill>
                <a:latin typeface="Open Sans"/>
                <a:ea typeface="Open Sans"/>
                <a:cs typeface="Open Sans"/>
                <a:sym typeface="Open Sans"/>
              </a:rPr>
            </a:br>
            <a:r>
              <a:rPr lang="en" sz="1200">
                <a:solidFill>
                  <a:schemeClr val="dk2"/>
                </a:solidFill>
                <a:latin typeface="Open Sans"/>
                <a:ea typeface="Open Sans"/>
                <a:cs typeface="Open Sans"/>
                <a:sym typeface="Open Sans"/>
              </a:rPr>
              <a:t>- </a:t>
            </a:r>
            <a:r>
              <a:rPr b="1" lang="en" sz="1200">
                <a:solidFill>
                  <a:schemeClr val="dk2"/>
                </a:solidFill>
                <a:latin typeface="Open Sans"/>
                <a:ea typeface="Open Sans"/>
                <a:cs typeface="Open Sans"/>
                <a:sym typeface="Open Sans"/>
              </a:rPr>
              <a:t>CONSTRAINTS - Letters only, starts with</a:t>
            </a:r>
            <a:endParaRPr b="1" sz="1200">
              <a:solidFill>
                <a:schemeClr val="dk2"/>
              </a:solidFill>
              <a:latin typeface="Open Sans"/>
              <a:ea typeface="Open Sans"/>
              <a:cs typeface="Open Sans"/>
              <a:sym typeface="Open Sans"/>
            </a:endParaRPr>
          </a:p>
          <a:p>
            <a:pPr indent="0" lvl="0" marL="0" rtl="0" algn="l">
              <a:lnSpc>
                <a:spcPct val="115000"/>
              </a:lnSpc>
              <a:spcBef>
                <a:spcPts val="0"/>
              </a:spcBef>
              <a:spcAft>
                <a:spcPts val="0"/>
              </a:spcAft>
              <a:buNone/>
            </a:pPr>
            <a:r>
              <a:rPr b="1" lang="en" sz="1200">
                <a:solidFill>
                  <a:schemeClr val="dk2"/>
                </a:solidFill>
                <a:latin typeface="Open Sans"/>
                <a:ea typeface="Open Sans"/>
                <a:cs typeface="Open Sans"/>
                <a:sym typeface="Open Sans"/>
              </a:rPr>
              <a:t>Capital Letter (LIKE '[A-Z]%')</a:t>
            </a:r>
            <a:endParaRPr b="1" sz="12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b="1" sz="1200">
              <a:solidFill>
                <a:schemeClr val="dk2"/>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b1290a4bfa_8_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CollegeCatalog.DepartmentName</a:t>
            </a:r>
            <a:endParaRPr/>
          </a:p>
        </p:txBody>
      </p:sp>
      <p:pic>
        <p:nvPicPr>
          <p:cNvPr id="200" name="Google Shape;200;g3b1290a4bfa_8_7" title="Screenshot 2025-12-16 at 8.14.27 PM.png"/>
          <p:cNvPicPr preferRelativeResize="0"/>
          <p:nvPr/>
        </p:nvPicPr>
        <p:blipFill>
          <a:blip r:embed="rId3">
            <a:alphaModFix/>
          </a:blip>
          <a:stretch>
            <a:fillRect/>
          </a:stretch>
        </p:blipFill>
        <p:spPr>
          <a:xfrm>
            <a:off x="152400" y="1304825"/>
            <a:ext cx="8839200" cy="630086"/>
          </a:xfrm>
          <a:prstGeom prst="rect">
            <a:avLst/>
          </a:prstGeom>
          <a:noFill/>
          <a:ln>
            <a:noFill/>
          </a:ln>
        </p:spPr>
      </p:pic>
      <p:sp>
        <p:nvSpPr>
          <p:cNvPr id="201" name="Google Shape;201;g3b1290a4bfa_8_7"/>
          <p:cNvSpPr txBox="1"/>
          <p:nvPr/>
        </p:nvSpPr>
        <p:spPr>
          <a:xfrm>
            <a:off x="384900" y="2021475"/>
            <a:ext cx="7557900" cy="28674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None/>
            </a:pPr>
            <a:r>
              <a:rPr lang="en" sz="1100"/>
              <a:t>DepartmentName is a UDT created to standardize how department names are stored across the database.</a:t>
            </a:r>
            <a:endParaRPr sz="1100"/>
          </a:p>
          <a:p>
            <a:pPr indent="0" lvl="0" marL="381000" marR="381000" rtl="0" algn="l">
              <a:lnSpc>
                <a:spcPct val="115000"/>
              </a:lnSpc>
              <a:spcBef>
                <a:spcPts val="1200"/>
              </a:spcBef>
              <a:spcAft>
                <a:spcPts val="0"/>
              </a:spcAft>
              <a:buNone/>
            </a:pPr>
            <a:r>
              <a:rPr lang="en" sz="1100"/>
              <a:t>This UDT is used in the CollegeCatalog.Department table to ensure consistency and prevent invalid or duplicate department naming formats.</a:t>
            </a:r>
            <a:endParaRPr sz="1100"/>
          </a:p>
          <a:p>
            <a:pPr indent="0" lvl="0" marL="381000" marR="381000" rtl="0" algn="l">
              <a:lnSpc>
                <a:spcPct val="115000"/>
              </a:lnSpc>
              <a:spcBef>
                <a:spcPts val="1200"/>
              </a:spcBef>
              <a:spcAft>
                <a:spcPts val="0"/>
              </a:spcAft>
              <a:buNone/>
            </a:pPr>
            <a:r>
              <a:rPr lang="en" sz="1100"/>
              <a:t>By enforcing a single DepartmentName UDT, the database ensures that all references to departments (such as in Courses) follow the same naming rules and constraints, improving data integrity and readability.This also allows future validation rules to be applied centrally without modifying individual tables.</a:t>
            </a:r>
            <a:endParaRPr sz="1100"/>
          </a:p>
          <a:p>
            <a:pPr indent="0" lvl="0" marL="0" rtl="0" algn="l">
              <a:lnSpc>
                <a:spcPct val="115000"/>
              </a:lnSpc>
              <a:spcBef>
                <a:spcPts val="1200"/>
              </a:spcBef>
              <a:spcAft>
                <a:spcPts val="0"/>
              </a:spcAft>
              <a:buNone/>
            </a:pPr>
            <a:r>
              <a:rPr b="1" lang="en" sz="900"/>
              <a:t>Constraints</a:t>
            </a:r>
            <a:endParaRPr b="1" sz="900"/>
          </a:p>
          <a:p>
            <a:pPr indent="-285750" lvl="0" marL="457200" rtl="0" algn="l">
              <a:lnSpc>
                <a:spcPct val="115000"/>
              </a:lnSpc>
              <a:spcBef>
                <a:spcPts val="1200"/>
              </a:spcBef>
              <a:spcAft>
                <a:spcPts val="0"/>
              </a:spcAft>
              <a:buSzPts val="900"/>
              <a:buChar char="●"/>
            </a:pPr>
            <a:r>
              <a:rPr lang="en" sz="900"/>
              <a:t>Character string</a:t>
            </a:r>
            <a:endParaRPr sz="900"/>
          </a:p>
          <a:p>
            <a:pPr indent="-285750" lvl="0" marL="457200" rtl="0" algn="l">
              <a:lnSpc>
                <a:spcPct val="115000"/>
              </a:lnSpc>
              <a:spcBef>
                <a:spcPts val="0"/>
              </a:spcBef>
              <a:spcAft>
                <a:spcPts val="0"/>
              </a:spcAft>
              <a:buSzPts val="900"/>
              <a:buChar char="●"/>
            </a:pPr>
            <a:r>
              <a:rPr lang="en" sz="900"/>
              <a:t>Enforces standardized department naming</a:t>
            </a:r>
            <a:endParaRPr sz="900"/>
          </a:p>
          <a:p>
            <a:pPr indent="0" lvl="0" marL="381000" marR="381000" rtl="0" algn="l">
              <a:lnSpc>
                <a:spcPct val="115000"/>
              </a:lnSpc>
              <a:spcBef>
                <a:spcPts val="1200"/>
              </a:spcBef>
              <a:spcAft>
                <a:spcPts val="0"/>
              </a:spcAft>
              <a:buNone/>
            </a:pPr>
            <a:r>
              <a:t/>
            </a:r>
            <a:endParaRPr sz="1100"/>
          </a:p>
          <a:p>
            <a:pPr indent="0" lvl="0" marL="381000" marR="381000" rtl="0" algn="l">
              <a:lnSpc>
                <a:spcPct val="115000"/>
              </a:lnSpc>
              <a:spcBef>
                <a:spcPts val="1200"/>
              </a:spcBef>
              <a:spcAft>
                <a:spcPts val="0"/>
              </a:spcAft>
              <a:buNone/>
            </a:pPr>
            <a:r>
              <a:t/>
            </a:r>
            <a:endParaRPr sz="1100"/>
          </a:p>
          <a:p>
            <a:pPr indent="0" lvl="0" marL="381000" marR="38100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sz="1200">
              <a:solidFill>
                <a:schemeClr val="dk2"/>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b1347ce7e4_0_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Udt.ClassTime</a:t>
            </a:r>
            <a:endParaRPr/>
          </a:p>
        </p:txBody>
      </p:sp>
      <p:sp>
        <p:nvSpPr>
          <p:cNvPr id="207" name="Google Shape;207;g3b1347ce7e4_0_14"/>
          <p:cNvSpPr txBox="1"/>
          <p:nvPr>
            <p:ph idx="1" type="body"/>
          </p:nvPr>
        </p:nvSpPr>
        <p:spPr>
          <a:xfrm>
            <a:off x="311700" y="1692050"/>
            <a:ext cx="8520600" cy="28770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None/>
            </a:pPr>
            <a:r>
              <a:rPr lang="en" sz="1100">
                <a:solidFill>
                  <a:srgbClr val="000000"/>
                </a:solidFill>
                <a:latin typeface="Arial"/>
                <a:ea typeface="Arial"/>
                <a:cs typeface="Arial"/>
                <a:sym typeface="Arial"/>
              </a:rPr>
              <a:t>ClassTime is a UDT created to standardize time-related values used in scheduling and workflow tracking.</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Constraints</a:t>
            </a:r>
            <a:endParaRPr b="1" sz="1100">
              <a:solidFill>
                <a:srgbClr val="000000"/>
              </a:solidFill>
              <a:latin typeface="Arial"/>
              <a:ea typeface="Arial"/>
              <a:cs typeface="Arial"/>
              <a:sym typeface="Arial"/>
            </a:endParaRPr>
          </a:p>
          <a:p>
            <a:pPr indent="-287972" lvl="0" marL="457200" rtl="0" algn="l">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Enforces valid time formatting</a:t>
            </a:r>
            <a:endParaRPr sz="1100">
              <a:solidFill>
                <a:srgbClr val="000000"/>
              </a:solidFill>
              <a:latin typeface="Arial"/>
              <a:ea typeface="Arial"/>
              <a:cs typeface="Arial"/>
              <a:sym typeface="Arial"/>
            </a:endParaRPr>
          </a:p>
          <a:p>
            <a:pPr indent="-287972"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Restricts invalid scheduling values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Defaults</a:t>
            </a:r>
            <a:endParaRPr b="1" sz="1100">
              <a:solidFill>
                <a:srgbClr val="000000"/>
              </a:solidFill>
              <a:latin typeface="Arial"/>
              <a:ea typeface="Arial"/>
              <a:cs typeface="Arial"/>
              <a:sym typeface="Arial"/>
            </a:endParaRPr>
          </a:p>
          <a:p>
            <a:pPr indent="-287972" lvl="0" marL="457200" rtl="0" algn="l">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No default value</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Used in Tables</a:t>
            </a:r>
            <a:endParaRPr b="1" sz="1100">
              <a:solidFill>
                <a:srgbClr val="000000"/>
              </a:solidFill>
              <a:latin typeface="Arial"/>
              <a:ea typeface="Arial"/>
              <a:cs typeface="Arial"/>
              <a:sym typeface="Arial"/>
            </a:endParaRPr>
          </a:p>
          <a:p>
            <a:pPr indent="-287972" lvl="0" marL="457200" rtl="0" algn="l">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Process.WorkFlowSteps</a:t>
            </a:r>
            <a:endParaRPr sz="1100">
              <a:solidFill>
                <a:srgbClr val="000000"/>
              </a:solidFill>
              <a:latin typeface="Arial"/>
              <a:ea typeface="Arial"/>
              <a:cs typeface="Arial"/>
              <a:sym typeface="Arial"/>
            </a:endParaRPr>
          </a:p>
          <a:p>
            <a:pPr indent="-287972"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ClassSession.ClassSchedule</a:t>
            </a:r>
            <a:endParaRPr sz="1100">
              <a:solidFill>
                <a:srgbClr val="000000"/>
              </a:solidFill>
              <a:latin typeface="Arial"/>
              <a:ea typeface="Arial"/>
              <a:cs typeface="Arial"/>
              <a:sym typeface="Arial"/>
            </a:endParaRPr>
          </a:p>
          <a:p>
            <a:pPr indent="-287972"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ClassSession.Class</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pic>
        <p:nvPicPr>
          <p:cNvPr id="208" name="Google Shape;208;g3b1347ce7e4_0_14" title="Screenshot 2025-12-16 at 10.06.48 PM.png"/>
          <p:cNvPicPr preferRelativeResize="0"/>
          <p:nvPr/>
        </p:nvPicPr>
        <p:blipFill>
          <a:blip r:embed="rId3">
            <a:alphaModFix/>
          </a:blip>
          <a:stretch>
            <a:fillRect/>
          </a:stretch>
        </p:blipFill>
        <p:spPr>
          <a:xfrm>
            <a:off x="70050" y="1113925"/>
            <a:ext cx="8801100" cy="361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b1347ce7e4_0_2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Udt.inidividualProject</a:t>
            </a:r>
            <a:endParaRPr/>
          </a:p>
        </p:txBody>
      </p:sp>
      <p:sp>
        <p:nvSpPr>
          <p:cNvPr id="214" name="Google Shape;214;g3b1347ce7e4_0_2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br>
              <a:rPr b="1"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IndividualProject is a UDT used to identify project-related data tied to individual work.</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Constraints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Enforces consistent project identifier formatting</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Defaults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No default value</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Used in Tables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DbSecurity.UserAuthorization</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u="sng"/>
          </a:p>
        </p:txBody>
      </p:sp>
      <p:pic>
        <p:nvPicPr>
          <p:cNvPr id="215" name="Google Shape;215;g3b1347ce7e4_0_29" title="Screenshot 2025-12-16 at 10.08.19 PM.png"/>
          <p:cNvPicPr preferRelativeResize="0"/>
          <p:nvPr/>
        </p:nvPicPr>
        <p:blipFill>
          <a:blip r:embed="rId3">
            <a:alphaModFix/>
          </a:blip>
          <a:stretch>
            <a:fillRect/>
          </a:stretch>
        </p:blipFill>
        <p:spPr>
          <a:xfrm>
            <a:off x="-49750" y="1085350"/>
            <a:ext cx="8801100" cy="180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b1347ce7e4_0_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Udt.DateAdded and Udt.DateOfLastUpdated</a:t>
            </a:r>
            <a:endParaRPr/>
          </a:p>
        </p:txBody>
      </p:sp>
      <p:sp>
        <p:nvSpPr>
          <p:cNvPr id="221" name="Google Shape;221;g3b1347ce7e4_0_4"/>
          <p:cNvSpPr txBox="1"/>
          <p:nvPr>
            <p:ph idx="1" type="body"/>
          </p:nvPr>
        </p:nvSpPr>
        <p:spPr>
          <a:xfrm>
            <a:off x="401525" y="2058900"/>
            <a:ext cx="8520600" cy="21132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lang="en" sz="4300"/>
              <a:t>DateAdded and DateOfLastUpdated are UDTs created to standardize timestamp tracking across all tables.</a:t>
            </a:r>
            <a:endParaRPr sz="4300"/>
          </a:p>
          <a:p>
            <a:pPr indent="0" lvl="0" marL="0" rtl="0" algn="l">
              <a:spcBef>
                <a:spcPts val="1200"/>
              </a:spcBef>
              <a:spcAft>
                <a:spcPts val="0"/>
              </a:spcAft>
              <a:buNone/>
            </a:pPr>
            <a:r>
              <a:rPr lang="en" sz="4300"/>
              <a:t>DateAdded records when a row is first inserted, while DateOfLastUpdated records the most recent modification.</a:t>
            </a:r>
            <a:endParaRPr sz="4300"/>
          </a:p>
          <a:p>
            <a:pPr indent="0" lvl="0" marL="0" rtl="0" algn="l">
              <a:spcBef>
                <a:spcPts val="1200"/>
              </a:spcBef>
              <a:spcAft>
                <a:spcPts val="0"/>
              </a:spcAft>
              <a:buNone/>
            </a:pPr>
            <a:r>
              <a:rPr lang="en" sz="4300"/>
              <a:t>These UDTs support auditing, debugging, and historical analysis by ensuring that all tables track changes in a consistent manner.</a:t>
            </a:r>
            <a:endParaRPr sz="4300"/>
          </a:p>
          <a:p>
            <a:pPr indent="0" lvl="0" marL="0" rtl="0" algn="l">
              <a:spcBef>
                <a:spcPts val="1200"/>
              </a:spcBef>
              <a:spcAft>
                <a:spcPts val="0"/>
              </a:spcAft>
              <a:buNone/>
            </a:pPr>
            <a:r>
              <a:rPr b="1" lang="en" sz="4000">
                <a:solidFill>
                  <a:srgbClr val="000000"/>
                </a:solidFill>
                <a:latin typeface="Arial"/>
                <a:ea typeface="Arial"/>
                <a:cs typeface="Arial"/>
                <a:sym typeface="Arial"/>
              </a:rPr>
              <a:t>Constraints</a:t>
            </a:r>
            <a:endParaRPr b="1" sz="4000">
              <a:solidFill>
                <a:srgbClr val="000000"/>
              </a:solidFill>
              <a:latin typeface="Arial"/>
              <a:ea typeface="Arial"/>
              <a:cs typeface="Arial"/>
              <a:sym typeface="Arial"/>
            </a:endParaRPr>
          </a:p>
          <a:p>
            <a:pPr indent="-292100" lvl="0" marL="457200" rtl="0" algn="l">
              <a:spcBef>
                <a:spcPts val="1200"/>
              </a:spcBef>
              <a:spcAft>
                <a:spcPts val="0"/>
              </a:spcAft>
              <a:buClr>
                <a:srgbClr val="000000"/>
              </a:buClr>
              <a:buSzPct val="100000"/>
              <a:buFont typeface="Arial"/>
              <a:buChar char="●"/>
            </a:pPr>
            <a:r>
              <a:rPr lang="en" sz="4000">
                <a:solidFill>
                  <a:srgbClr val="000000"/>
                </a:solidFill>
                <a:latin typeface="Arial"/>
                <a:ea typeface="Arial"/>
                <a:cs typeface="Arial"/>
                <a:sym typeface="Arial"/>
              </a:rPr>
              <a:t>Date/time data type</a:t>
            </a:r>
            <a:endParaRPr sz="4000">
              <a:solidFill>
                <a:srgbClr val="000000"/>
              </a:solidFill>
              <a:latin typeface="Arial"/>
              <a:ea typeface="Arial"/>
              <a:cs typeface="Arial"/>
              <a:sym typeface="Arial"/>
            </a:endParaRPr>
          </a:p>
          <a:p>
            <a:pPr indent="-292100" lvl="0" marL="457200" rtl="0" algn="l">
              <a:spcBef>
                <a:spcPts val="0"/>
              </a:spcBef>
              <a:spcAft>
                <a:spcPts val="0"/>
              </a:spcAft>
              <a:buClr>
                <a:srgbClr val="000000"/>
              </a:buClr>
              <a:buSzPct val="100000"/>
              <a:buFont typeface="Arial"/>
              <a:buChar char="●"/>
            </a:pPr>
            <a:r>
              <a:rPr lang="en" sz="4000">
                <a:solidFill>
                  <a:srgbClr val="000000"/>
                </a:solidFill>
                <a:latin typeface="Arial"/>
                <a:ea typeface="Arial"/>
                <a:cs typeface="Arial"/>
                <a:sym typeface="Arial"/>
              </a:rPr>
              <a:t>NOT NULL</a:t>
            </a:r>
            <a:endParaRPr sz="4000">
              <a:solidFill>
                <a:srgbClr val="000000"/>
              </a:solidFill>
              <a:latin typeface="Arial"/>
              <a:ea typeface="Arial"/>
              <a:cs typeface="Arial"/>
              <a:sym typeface="Arial"/>
            </a:endParaRPr>
          </a:p>
          <a:p>
            <a:pPr indent="0" lvl="0" marL="0" rtl="0" algn="l">
              <a:spcBef>
                <a:spcPts val="1200"/>
              </a:spcBef>
              <a:spcAft>
                <a:spcPts val="0"/>
              </a:spcAft>
              <a:buNone/>
            </a:pPr>
            <a:r>
              <a:rPr b="1" lang="en" sz="4000">
                <a:solidFill>
                  <a:srgbClr val="000000"/>
                </a:solidFill>
                <a:latin typeface="Arial"/>
                <a:ea typeface="Arial"/>
                <a:cs typeface="Arial"/>
                <a:sym typeface="Arial"/>
              </a:rPr>
              <a:t>Defaults</a:t>
            </a:r>
            <a:endParaRPr b="1" sz="4000">
              <a:solidFill>
                <a:srgbClr val="000000"/>
              </a:solidFill>
              <a:latin typeface="Arial"/>
              <a:ea typeface="Arial"/>
              <a:cs typeface="Arial"/>
              <a:sym typeface="Arial"/>
            </a:endParaRPr>
          </a:p>
          <a:p>
            <a:pPr indent="-292100" lvl="0" marL="457200" rtl="0" algn="l">
              <a:spcBef>
                <a:spcPts val="1200"/>
              </a:spcBef>
              <a:spcAft>
                <a:spcPts val="0"/>
              </a:spcAft>
              <a:buClr>
                <a:srgbClr val="000000"/>
              </a:buClr>
              <a:buSzPct val="100000"/>
              <a:buFont typeface="Arial"/>
              <a:buChar char="●"/>
            </a:pPr>
            <a:r>
              <a:rPr lang="en" sz="4000">
                <a:solidFill>
                  <a:srgbClr val="000000"/>
                </a:solidFill>
                <a:latin typeface="Arial"/>
                <a:ea typeface="Arial"/>
                <a:cs typeface="Arial"/>
                <a:sym typeface="Arial"/>
              </a:rPr>
              <a:t>Defaults to current system date and time</a:t>
            </a:r>
            <a:endParaRPr sz="4000">
              <a:solidFill>
                <a:srgbClr val="000000"/>
              </a:solidFill>
              <a:latin typeface="Arial"/>
              <a:ea typeface="Arial"/>
              <a:cs typeface="Arial"/>
              <a:sym typeface="Arial"/>
            </a:endParaRPr>
          </a:p>
          <a:p>
            <a:pPr indent="0" lvl="0" marL="0" rtl="0" algn="l">
              <a:spcBef>
                <a:spcPts val="1200"/>
              </a:spcBef>
              <a:spcAft>
                <a:spcPts val="0"/>
              </a:spcAft>
              <a:buNone/>
            </a:pPr>
            <a:r>
              <a:t/>
            </a:r>
            <a:endParaRPr sz="4300"/>
          </a:p>
          <a:p>
            <a:pPr indent="0" lvl="0" marL="0" rtl="0" algn="l">
              <a:spcBef>
                <a:spcPts val="1200"/>
              </a:spcBef>
              <a:spcAft>
                <a:spcPts val="0"/>
              </a:spcAft>
              <a:buNone/>
            </a:pPr>
            <a:r>
              <a:t/>
            </a:r>
            <a:endParaRPr/>
          </a:p>
          <a:p>
            <a:pPr indent="0" lvl="0" marL="0" rtl="0" algn="l">
              <a:spcBef>
                <a:spcPts val="1200"/>
              </a:spcBef>
              <a:spcAft>
                <a:spcPts val="0"/>
              </a:spcAft>
              <a:buNone/>
            </a:pPr>
            <a:r>
              <a:t/>
            </a:r>
            <a:endParaRPr/>
          </a:p>
        </p:txBody>
      </p:sp>
      <p:pic>
        <p:nvPicPr>
          <p:cNvPr id="222" name="Google Shape;222;g3b1347ce7e4_0_4" title="Screenshot 2025-12-16 at 9.58.45 PM.png"/>
          <p:cNvPicPr preferRelativeResize="0"/>
          <p:nvPr/>
        </p:nvPicPr>
        <p:blipFill>
          <a:blip r:embed="rId3">
            <a:alphaModFix/>
          </a:blip>
          <a:stretch>
            <a:fillRect/>
          </a:stretch>
        </p:blipFill>
        <p:spPr>
          <a:xfrm>
            <a:off x="311700" y="1266325"/>
            <a:ext cx="7669325" cy="1076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b1347ce7e4_0_3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Udt.FirstName, Udt.LastName, and Udt.GroupName</a:t>
            </a:r>
            <a:endParaRPr/>
          </a:p>
        </p:txBody>
      </p:sp>
      <p:sp>
        <p:nvSpPr>
          <p:cNvPr id="228" name="Google Shape;228;g3b1347ce7e4_0_36"/>
          <p:cNvSpPr txBox="1"/>
          <p:nvPr>
            <p:ph idx="1" type="body"/>
          </p:nvPr>
        </p:nvSpPr>
        <p:spPr>
          <a:xfrm>
            <a:off x="311700" y="2036425"/>
            <a:ext cx="8520600" cy="25326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None/>
            </a:pPr>
            <a:r>
              <a:rPr lang="en" sz="3957">
                <a:solidFill>
                  <a:srgbClr val="000000"/>
                </a:solidFill>
                <a:latin typeface="Arial"/>
                <a:ea typeface="Arial"/>
                <a:cs typeface="Arial"/>
                <a:sym typeface="Arial"/>
              </a:rPr>
              <a:t>FirstName, LastName, and GroupName are UDTs created to standardize how individual and group identifiers are stored in the database.</a:t>
            </a:r>
            <a:endParaRPr sz="3957">
              <a:solidFill>
                <a:srgbClr val="000000"/>
              </a:solidFill>
              <a:latin typeface="Arial"/>
              <a:ea typeface="Arial"/>
              <a:cs typeface="Arial"/>
              <a:sym typeface="Arial"/>
            </a:endParaRPr>
          </a:p>
          <a:p>
            <a:pPr indent="0" lvl="0" marL="0" rtl="0" algn="l">
              <a:spcBef>
                <a:spcPts val="1200"/>
              </a:spcBef>
              <a:spcAft>
                <a:spcPts val="0"/>
              </a:spcAft>
              <a:buNone/>
            </a:pPr>
            <a:r>
              <a:rPr b="1" lang="en" sz="3957">
                <a:solidFill>
                  <a:srgbClr val="000000"/>
                </a:solidFill>
                <a:latin typeface="Arial"/>
                <a:ea typeface="Arial"/>
                <a:cs typeface="Arial"/>
                <a:sym typeface="Arial"/>
              </a:rPr>
              <a:t>Constraints</a:t>
            </a:r>
            <a:endParaRPr b="1" sz="3957">
              <a:solidFill>
                <a:srgbClr val="000000"/>
              </a:solidFill>
              <a:latin typeface="Arial"/>
              <a:ea typeface="Arial"/>
              <a:cs typeface="Arial"/>
              <a:sym typeface="Arial"/>
            </a:endParaRPr>
          </a:p>
          <a:p>
            <a:pPr indent="-291428" lvl="0" marL="457200" rtl="0" algn="l">
              <a:spcBef>
                <a:spcPts val="1200"/>
              </a:spcBef>
              <a:spcAft>
                <a:spcPts val="0"/>
              </a:spcAft>
              <a:buClr>
                <a:srgbClr val="000000"/>
              </a:buClr>
              <a:buSzPct val="100000"/>
              <a:buFont typeface="Arial"/>
              <a:buChar char="●"/>
            </a:pPr>
            <a:r>
              <a:rPr lang="en" sz="3957">
                <a:solidFill>
                  <a:srgbClr val="000000"/>
                </a:solidFill>
                <a:latin typeface="Arial"/>
                <a:ea typeface="Arial"/>
                <a:cs typeface="Arial"/>
                <a:sym typeface="Arial"/>
              </a:rPr>
              <a:t>Alphabetic characters only for FirstName and LastName</a:t>
            </a:r>
            <a:endParaRPr sz="3957">
              <a:solidFill>
                <a:srgbClr val="000000"/>
              </a:solidFill>
              <a:latin typeface="Arial"/>
              <a:ea typeface="Arial"/>
              <a:cs typeface="Arial"/>
              <a:sym typeface="Arial"/>
            </a:endParaRPr>
          </a:p>
          <a:p>
            <a:pPr indent="-291428" lvl="0" marL="457200" rtl="0" algn="l">
              <a:spcBef>
                <a:spcPts val="0"/>
              </a:spcBef>
              <a:spcAft>
                <a:spcPts val="0"/>
              </a:spcAft>
              <a:buClr>
                <a:srgbClr val="000000"/>
              </a:buClr>
              <a:buSzPct val="100000"/>
              <a:buFont typeface="Arial"/>
              <a:buChar char="●"/>
            </a:pPr>
            <a:r>
              <a:rPr lang="en" sz="3957">
                <a:solidFill>
                  <a:srgbClr val="000000"/>
                </a:solidFill>
                <a:latin typeface="Arial"/>
                <a:ea typeface="Arial"/>
                <a:cs typeface="Arial"/>
                <a:sym typeface="Arial"/>
              </a:rPr>
              <a:t>Proper capitalization enforced for name fields</a:t>
            </a:r>
            <a:endParaRPr sz="3957">
              <a:solidFill>
                <a:srgbClr val="000000"/>
              </a:solidFill>
              <a:latin typeface="Arial"/>
              <a:ea typeface="Arial"/>
              <a:cs typeface="Arial"/>
              <a:sym typeface="Arial"/>
            </a:endParaRPr>
          </a:p>
          <a:p>
            <a:pPr indent="-291428" lvl="0" marL="457200" rtl="0" algn="l">
              <a:spcBef>
                <a:spcPts val="0"/>
              </a:spcBef>
              <a:spcAft>
                <a:spcPts val="0"/>
              </a:spcAft>
              <a:buClr>
                <a:srgbClr val="000000"/>
              </a:buClr>
              <a:buSzPct val="100000"/>
              <a:buFont typeface="Arial"/>
              <a:buChar char="●"/>
            </a:pPr>
            <a:r>
              <a:rPr lang="en" sz="3957">
                <a:solidFill>
                  <a:srgbClr val="000000"/>
                </a:solidFill>
                <a:latin typeface="Arial"/>
                <a:ea typeface="Arial"/>
                <a:cs typeface="Arial"/>
                <a:sym typeface="Arial"/>
              </a:rPr>
              <a:t>GroupName enforces consistent string formatting</a:t>
            </a:r>
            <a:endParaRPr sz="3957">
              <a:solidFill>
                <a:srgbClr val="000000"/>
              </a:solidFill>
              <a:latin typeface="Arial"/>
              <a:ea typeface="Arial"/>
              <a:cs typeface="Arial"/>
              <a:sym typeface="Arial"/>
            </a:endParaRPr>
          </a:p>
          <a:p>
            <a:pPr indent="0" lvl="0" marL="0" rtl="0" algn="l">
              <a:spcBef>
                <a:spcPts val="1200"/>
              </a:spcBef>
              <a:spcAft>
                <a:spcPts val="0"/>
              </a:spcAft>
              <a:buNone/>
            </a:pPr>
            <a:r>
              <a:rPr b="1" lang="en" sz="3957">
                <a:solidFill>
                  <a:srgbClr val="000000"/>
                </a:solidFill>
                <a:latin typeface="Arial"/>
                <a:ea typeface="Arial"/>
                <a:cs typeface="Arial"/>
                <a:sym typeface="Arial"/>
              </a:rPr>
              <a:t>Defaults</a:t>
            </a:r>
            <a:endParaRPr b="1" sz="3957">
              <a:solidFill>
                <a:srgbClr val="000000"/>
              </a:solidFill>
              <a:latin typeface="Arial"/>
              <a:ea typeface="Arial"/>
              <a:cs typeface="Arial"/>
              <a:sym typeface="Arial"/>
            </a:endParaRPr>
          </a:p>
          <a:p>
            <a:pPr indent="-291428" lvl="0" marL="457200" rtl="0" algn="l">
              <a:spcBef>
                <a:spcPts val="1200"/>
              </a:spcBef>
              <a:spcAft>
                <a:spcPts val="0"/>
              </a:spcAft>
              <a:buClr>
                <a:srgbClr val="000000"/>
              </a:buClr>
              <a:buSzPct val="100000"/>
              <a:buFont typeface="Arial"/>
              <a:buChar char="●"/>
            </a:pPr>
            <a:r>
              <a:rPr lang="en" sz="3957">
                <a:solidFill>
                  <a:srgbClr val="000000"/>
                </a:solidFill>
                <a:latin typeface="Arial"/>
                <a:ea typeface="Arial"/>
                <a:cs typeface="Arial"/>
                <a:sym typeface="Arial"/>
              </a:rPr>
              <a:t>No default values — all fields must be explicitly provided</a:t>
            </a:r>
            <a:endParaRPr sz="3957">
              <a:solidFill>
                <a:srgbClr val="000000"/>
              </a:solidFill>
              <a:latin typeface="Arial"/>
              <a:ea typeface="Arial"/>
              <a:cs typeface="Arial"/>
              <a:sym typeface="Arial"/>
            </a:endParaRPr>
          </a:p>
          <a:p>
            <a:pPr indent="0" lvl="0" marL="0" rtl="0" algn="l">
              <a:spcBef>
                <a:spcPts val="1200"/>
              </a:spcBef>
              <a:spcAft>
                <a:spcPts val="0"/>
              </a:spcAft>
              <a:buNone/>
            </a:pPr>
            <a:r>
              <a:rPr b="1" lang="en" sz="3957">
                <a:solidFill>
                  <a:srgbClr val="000000"/>
                </a:solidFill>
                <a:latin typeface="Arial"/>
                <a:ea typeface="Arial"/>
                <a:cs typeface="Arial"/>
                <a:sym typeface="Arial"/>
              </a:rPr>
              <a:t>Used in Tables</a:t>
            </a:r>
            <a:endParaRPr b="1" sz="3957">
              <a:solidFill>
                <a:srgbClr val="000000"/>
              </a:solidFill>
              <a:latin typeface="Arial"/>
              <a:ea typeface="Arial"/>
              <a:cs typeface="Arial"/>
              <a:sym typeface="Arial"/>
            </a:endParaRPr>
          </a:p>
          <a:p>
            <a:pPr indent="-291428" lvl="0" marL="457200" rtl="0" algn="l">
              <a:spcBef>
                <a:spcPts val="1200"/>
              </a:spcBef>
              <a:spcAft>
                <a:spcPts val="0"/>
              </a:spcAft>
              <a:buClr>
                <a:srgbClr val="000000"/>
              </a:buClr>
              <a:buSzPct val="100000"/>
              <a:buFont typeface="Arial"/>
              <a:buChar char="●"/>
            </a:pPr>
            <a:r>
              <a:rPr lang="en" sz="3957">
                <a:solidFill>
                  <a:srgbClr val="000000"/>
                </a:solidFill>
                <a:latin typeface="Arial"/>
                <a:ea typeface="Arial"/>
                <a:cs typeface="Arial"/>
                <a:sym typeface="Arial"/>
              </a:rPr>
              <a:t>DbSecurity.UserAuthorization</a:t>
            </a:r>
            <a:endParaRPr sz="3957">
              <a:solidFill>
                <a:srgbClr val="000000"/>
              </a:solidFill>
              <a:latin typeface="Arial"/>
              <a:ea typeface="Arial"/>
              <a:cs typeface="Arial"/>
              <a:sym typeface="Arial"/>
            </a:endParaRPr>
          </a:p>
          <a:p>
            <a:pPr indent="-291428" lvl="1" marL="914400" rtl="0" algn="l">
              <a:spcBef>
                <a:spcPts val="0"/>
              </a:spcBef>
              <a:spcAft>
                <a:spcPts val="0"/>
              </a:spcAft>
              <a:buClr>
                <a:srgbClr val="000000"/>
              </a:buClr>
              <a:buSzPct val="100000"/>
              <a:buFont typeface="Arial"/>
              <a:buChar char="○"/>
            </a:pPr>
            <a:r>
              <a:rPr lang="en" sz="3957">
                <a:solidFill>
                  <a:srgbClr val="000000"/>
                </a:solidFill>
                <a:latin typeface="Arial"/>
                <a:ea typeface="Arial"/>
                <a:cs typeface="Arial"/>
                <a:sym typeface="Arial"/>
              </a:rPr>
              <a:t>GroupMemberFirstName</a:t>
            </a:r>
            <a:endParaRPr sz="3957">
              <a:solidFill>
                <a:srgbClr val="000000"/>
              </a:solidFill>
              <a:latin typeface="Arial"/>
              <a:ea typeface="Arial"/>
              <a:cs typeface="Arial"/>
              <a:sym typeface="Arial"/>
            </a:endParaRPr>
          </a:p>
          <a:p>
            <a:pPr indent="-291428" lvl="1" marL="914400" rtl="0" algn="l">
              <a:spcBef>
                <a:spcPts val="0"/>
              </a:spcBef>
              <a:spcAft>
                <a:spcPts val="0"/>
              </a:spcAft>
              <a:buClr>
                <a:srgbClr val="000000"/>
              </a:buClr>
              <a:buSzPct val="100000"/>
              <a:buFont typeface="Arial"/>
              <a:buChar char="○"/>
            </a:pPr>
            <a:r>
              <a:rPr lang="en" sz="3957">
                <a:solidFill>
                  <a:srgbClr val="000000"/>
                </a:solidFill>
                <a:latin typeface="Arial"/>
                <a:ea typeface="Arial"/>
                <a:cs typeface="Arial"/>
                <a:sym typeface="Arial"/>
              </a:rPr>
              <a:t>GroupMemberLastName</a:t>
            </a:r>
            <a:endParaRPr sz="3957">
              <a:solidFill>
                <a:srgbClr val="000000"/>
              </a:solidFill>
              <a:latin typeface="Arial"/>
              <a:ea typeface="Arial"/>
              <a:cs typeface="Arial"/>
              <a:sym typeface="Arial"/>
            </a:endParaRPr>
          </a:p>
          <a:p>
            <a:pPr indent="-291428" lvl="1" marL="914400" rtl="0" algn="l">
              <a:spcBef>
                <a:spcPts val="0"/>
              </a:spcBef>
              <a:spcAft>
                <a:spcPts val="0"/>
              </a:spcAft>
              <a:buClr>
                <a:srgbClr val="000000"/>
              </a:buClr>
              <a:buSzPct val="100000"/>
              <a:buFont typeface="Arial"/>
              <a:buChar char="○"/>
            </a:pPr>
            <a:r>
              <a:rPr lang="en" sz="3957">
                <a:solidFill>
                  <a:srgbClr val="000000"/>
                </a:solidFill>
                <a:latin typeface="Arial"/>
                <a:ea typeface="Arial"/>
                <a:cs typeface="Arial"/>
                <a:sym typeface="Arial"/>
              </a:rPr>
              <a:t>GroupName</a:t>
            </a:r>
            <a:endParaRPr sz="3957">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pic>
        <p:nvPicPr>
          <p:cNvPr id="229" name="Google Shape;229;g3b1347ce7e4_0_36" title="Screenshot 2025-12-16 at 10.10.14 PM.png"/>
          <p:cNvPicPr preferRelativeResize="0"/>
          <p:nvPr/>
        </p:nvPicPr>
        <p:blipFill>
          <a:blip r:embed="rId3">
            <a:alphaModFix/>
          </a:blip>
          <a:stretch>
            <a:fillRect/>
          </a:stretch>
        </p:blipFill>
        <p:spPr>
          <a:xfrm>
            <a:off x="1260475" y="1040675"/>
            <a:ext cx="5537324" cy="741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abb0103071_0_8"/>
          <p:cNvSpPr txBox="1"/>
          <p:nvPr>
            <p:ph type="title"/>
          </p:nvPr>
        </p:nvSpPr>
        <p:spPr>
          <a:xfrm>
            <a:off x="1242450" y="1260750"/>
            <a:ext cx="6659100" cy="24618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3600"/>
              <a:buNone/>
            </a:pPr>
            <a:r>
              <a:rPr lang="en" sz="6500"/>
              <a:t>GROUP 5</a:t>
            </a:r>
            <a:endParaRPr sz="6500"/>
          </a:p>
          <a:p>
            <a:pPr indent="0" lvl="0" marL="0" rtl="0" algn="ctr">
              <a:lnSpc>
                <a:spcPct val="100000"/>
              </a:lnSpc>
              <a:spcBef>
                <a:spcPts val="0"/>
              </a:spcBef>
              <a:spcAft>
                <a:spcPts val="0"/>
              </a:spcAft>
              <a:buSzPts val="3600"/>
              <a:buNone/>
            </a:pPr>
            <a:r>
              <a:rPr lang="en" sz="6500"/>
              <a:t>NACE COMPETENCIES</a:t>
            </a:r>
            <a:endParaRPr sz="65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abb0103071_0_1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NACE COMPETENCIES - RENZO</a:t>
            </a:r>
            <a:endParaRPr/>
          </a:p>
        </p:txBody>
      </p:sp>
      <p:sp>
        <p:nvSpPr>
          <p:cNvPr id="240" name="Google Shape;240;g3abb0103071_0_12"/>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55600" lvl="0" marL="457200" rtl="0" algn="l">
              <a:lnSpc>
                <a:spcPct val="115000"/>
              </a:lnSpc>
              <a:spcBef>
                <a:spcPts val="0"/>
              </a:spcBef>
              <a:spcAft>
                <a:spcPts val="0"/>
              </a:spcAft>
              <a:buClr>
                <a:srgbClr val="212121"/>
              </a:buClr>
              <a:buSzPts val="2000"/>
              <a:buFont typeface="Arial"/>
              <a:buChar char="●"/>
            </a:pPr>
            <a:r>
              <a:rPr lang="en" sz="2000">
                <a:solidFill>
                  <a:srgbClr val="212121"/>
                </a:solidFill>
                <a:latin typeface="Arial"/>
                <a:ea typeface="Arial"/>
                <a:cs typeface="Arial"/>
                <a:sym typeface="Arial"/>
              </a:rPr>
              <a:t>Critical Thinking - Looking over all the fields and data that was stored in the original database to identify what needed to be normalized. From there we could start creating the diagrams and tables that needed to be created.</a:t>
            </a:r>
            <a:endParaRPr sz="2000">
              <a:solidFill>
                <a:srgbClr val="212121"/>
              </a:solidFill>
              <a:latin typeface="Arial"/>
              <a:ea typeface="Arial"/>
              <a:cs typeface="Arial"/>
              <a:sym typeface="Arial"/>
            </a:endParaRPr>
          </a:p>
          <a:p>
            <a:pPr indent="-355600" lvl="0" marL="457200" rtl="0" algn="l">
              <a:lnSpc>
                <a:spcPct val="115000"/>
              </a:lnSpc>
              <a:spcBef>
                <a:spcPts val="0"/>
              </a:spcBef>
              <a:spcAft>
                <a:spcPts val="0"/>
              </a:spcAft>
              <a:buClr>
                <a:srgbClr val="212121"/>
              </a:buClr>
              <a:buSzPts val="2000"/>
              <a:buFont typeface="Arial"/>
              <a:buChar char="●"/>
            </a:pPr>
            <a:r>
              <a:rPr lang="en" sz="2000">
                <a:solidFill>
                  <a:srgbClr val="212121"/>
                </a:solidFill>
                <a:latin typeface="Arial"/>
                <a:ea typeface="Arial"/>
                <a:cs typeface="Arial"/>
                <a:sym typeface="Arial"/>
              </a:rPr>
              <a:t>Leadership - Trying to keep everyone informed and verifying that the documentation I made was clear enough to build on it.</a:t>
            </a:r>
            <a:endParaRPr sz="2000">
              <a:solidFill>
                <a:srgbClr val="21212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abb0103071_0_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NACE COMPETENCIES - Bryan</a:t>
            </a:r>
            <a:endParaRPr/>
          </a:p>
        </p:txBody>
      </p:sp>
      <p:sp>
        <p:nvSpPr>
          <p:cNvPr id="246" name="Google Shape;246;g3abb0103071_0_17"/>
          <p:cNvSpPr txBox="1"/>
          <p:nvPr>
            <p:ph idx="1" type="body"/>
          </p:nvPr>
        </p:nvSpPr>
        <p:spPr>
          <a:xfrm>
            <a:off x="311700" y="11524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Teamwork : Demonstrated teamwork by coordinating responsibilities, aligning UDT definitions with teammates, and contributing to a cohesive final presentation.</a:t>
            </a:r>
            <a:endParaRPr/>
          </a:p>
          <a:p>
            <a:pPr indent="-342900" lvl="0" marL="457200" rtl="0" algn="l">
              <a:lnSpc>
                <a:spcPct val="115000"/>
              </a:lnSpc>
              <a:spcBef>
                <a:spcPts val="0"/>
              </a:spcBef>
              <a:spcAft>
                <a:spcPts val="0"/>
              </a:spcAft>
              <a:buSzPts val="1800"/>
              <a:buChar char="●"/>
            </a:pPr>
            <a:r>
              <a:rPr lang="en"/>
              <a:t>Professionalism: Demonstrated professionalism by adhering strictly to project requirements, maintaining consistent naming conventions, and producing well-organized and standards-compliant database design documentation.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abb0103071_0_3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NACE COMPETENCIES - DEVAK</a:t>
            </a:r>
            <a:endParaRPr/>
          </a:p>
        </p:txBody>
      </p:sp>
      <p:sp>
        <p:nvSpPr>
          <p:cNvPr id="252" name="Google Shape;252;g3abb0103071_0_3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1200"/>
              </a:spcBef>
              <a:spcAft>
                <a:spcPts val="0"/>
              </a:spcAft>
              <a:buSzPts val="1800"/>
              <a:buChar char="●"/>
            </a:pPr>
            <a:r>
              <a:rPr lang="en"/>
              <a:t>Critical Thinking: I applied critical thinking by identifying repeating data patterns across the schema and abstracting them into User-Defined Types. This required evaluating data integrity risks, deciding appropriate constraints and defaults, and ensuring consistent usage across multiple tables.</a:t>
            </a:r>
            <a:endParaRPr/>
          </a:p>
          <a:p>
            <a:pPr indent="-342900" lvl="0" marL="457200" rtl="0" algn="l">
              <a:lnSpc>
                <a:spcPct val="115000"/>
              </a:lnSpc>
              <a:spcBef>
                <a:spcPts val="0"/>
              </a:spcBef>
              <a:spcAft>
                <a:spcPts val="0"/>
              </a:spcAft>
              <a:buSzPts val="1800"/>
              <a:buChar char="●"/>
            </a:pPr>
            <a:r>
              <a:rPr lang="en"/>
              <a:t>Technology:I demonstrated technology competency by implementing SQL Server User-Defined Types to enforce consistency, constraints, and defaults at the schema level. This approach improved data integrity and maintainability across the entire database.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