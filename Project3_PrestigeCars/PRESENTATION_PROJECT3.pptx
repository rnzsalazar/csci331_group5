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5143500" cx="9144000"/>
  <p:notesSz cx="6858000" cy="9144000"/>
  <p:embeddedFontLst>
    <p:embeddedFont>
      <p:font typeface="PT Sans Narrow"/>
      <p:regular r:id="rId37"/>
      <p:bold r:id="rId38"/>
    </p:embeddedFont>
    <p:embeddedFont>
      <p:font typeface="Inter"/>
      <p:regular r:id="rId39"/>
      <p:bold r:id="rId40"/>
      <p:italic r:id="rId41"/>
      <p:boldItalic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iJAKono5tE1chs3yeadZ2WBtaG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nter-bold.fntdata"/><Relationship Id="rId20" Type="http://schemas.openxmlformats.org/officeDocument/2006/relationships/slide" Target="slides/slide16.xml"/><Relationship Id="rId42" Type="http://schemas.openxmlformats.org/officeDocument/2006/relationships/font" Target="fonts/Inter-boldItalic.fntdata"/><Relationship Id="rId41" Type="http://schemas.openxmlformats.org/officeDocument/2006/relationships/font" Target="fonts/Inter-italic.fntdata"/><Relationship Id="rId22" Type="http://schemas.openxmlformats.org/officeDocument/2006/relationships/slide" Target="slides/slide18.xml"/><Relationship Id="rId44" Type="http://schemas.openxmlformats.org/officeDocument/2006/relationships/font" Target="fonts/OpenSans-bold.fntdata"/><Relationship Id="rId21" Type="http://schemas.openxmlformats.org/officeDocument/2006/relationships/slide" Target="slides/slide17.xml"/><Relationship Id="rId43" Type="http://schemas.openxmlformats.org/officeDocument/2006/relationships/font" Target="fonts/OpenSans-regular.fntdata"/><Relationship Id="rId24" Type="http://schemas.openxmlformats.org/officeDocument/2006/relationships/slide" Target="slides/slide20.xml"/><Relationship Id="rId46" Type="http://schemas.openxmlformats.org/officeDocument/2006/relationships/font" Target="fonts/OpenSans-boldItalic.fntdata"/><Relationship Id="rId23" Type="http://schemas.openxmlformats.org/officeDocument/2006/relationships/slide" Target="slides/slide19.xml"/><Relationship Id="rId45"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customschemas.google.com/relationships/presentationmetadata" Target="meta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PTSansNarrow-regular.fnt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Inter-regular.fntdata"/><Relationship Id="rId16" Type="http://schemas.openxmlformats.org/officeDocument/2006/relationships/slide" Target="slides/slide12.xml"/><Relationship Id="rId38" Type="http://schemas.openxmlformats.org/officeDocument/2006/relationships/font" Target="fonts/PTSansNarrow-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91482f1c1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g3a91482f1c1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ba9ccdbb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ba9ccdbb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ba9ccdbb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ba9ccdbb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b83d0792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b83d0792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b83d0792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b83d0792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b83d0792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b83d0792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ba9ccdbb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ba9ccdbb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ba9ccdbb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ba9ccdbb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ba9ccdbb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ba9ccdbb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b83d0792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b83d0792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b83d0792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b83d0792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b83d0792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b83d0792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bb0103071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bb0103071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b896f40d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b896f40d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b98cf63e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b98cf63e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bb0103071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bb0103071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b83d0792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b83d0792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ba2b9bdb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ba2b9bdb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b83d0792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b83d0792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bb010307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bb010307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bb0103071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bb0103071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bb010307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abb010307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bb0103071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bb0103071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bb010307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3abb010307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bb010307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3abb0103071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bb010307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3abb0103071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bb010307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3abb0103071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bb010307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3abb0103071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bb010307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3abb0103071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bb010307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3abb0103071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b83d0792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ab83d0792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b83d0792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ab83d0792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21"/>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2" name="Google Shape;12;p2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 name="Google Shape;1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cxnSp>
        <p:nvCxnSpPr>
          <p:cNvPr id="15" name="Google Shape;15;p20"/>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6" name="Google Shape;16;p20"/>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7" name="Google Shape;17;p20"/>
          <p:cNvGrpSpPr/>
          <p:nvPr/>
        </p:nvGrpSpPr>
        <p:grpSpPr>
          <a:xfrm>
            <a:off x="1004144" y="1022025"/>
            <a:ext cx="7136668" cy="152400"/>
            <a:chOff x="1346429" y="1011300"/>
            <a:chExt cx="6452100" cy="152400"/>
          </a:xfrm>
        </p:grpSpPr>
        <p:cxnSp>
          <p:nvCxnSpPr>
            <p:cNvPr id="18" name="Google Shape;18;p20"/>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9" name="Google Shape;19;p20"/>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20" name="Google Shape;20;p20"/>
          <p:cNvGrpSpPr/>
          <p:nvPr/>
        </p:nvGrpSpPr>
        <p:grpSpPr>
          <a:xfrm>
            <a:off x="1004151" y="3969100"/>
            <a:ext cx="7136668" cy="152400"/>
            <a:chOff x="1346435" y="3969088"/>
            <a:chExt cx="6452100" cy="152400"/>
          </a:xfrm>
        </p:grpSpPr>
        <p:cxnSp>
          <p:nvCxnSpPr>
            <p:cNvPr id="21" name="Google Shape;21;p20"/>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22" name="Google Shape;22;p20"/>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23" name="Google Shape;23;p20"/>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24" name="Google Shape;24;p20"/>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5" name="Google Shape;25;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22"/>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2"/>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29" name="Google Shape;2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6" name="Google Shape;36;p23"/>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23"/>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1" name="Google Shape;4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26"/>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4" name="Google Shape;4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27"/>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27"/>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27"/>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27"/>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27"/>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1" name="Google Shape;5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28"/>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29"/>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9"/>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29"/>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1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s://sabihullahsaleh.medium.com/table-valued-functions-tvfs-in-sql-8706a3c0288b"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s://www.geeksforgeeks.org/sql/inline-table-valued-function-in-sql-server/" TargetMode="External"/><Relationship Id="rId4" Type="http://schemas.openxmlformats.org/officeDocument/2006/relationships/hyperlink" Target="https://www.sqlservercentral.com/articles/creating-and-using-inline-table-valued-functions" TargetMode="External"/><Relationship Id="rId11" Type="http://schemas.openxmlformats.org/officeDocument/2006/relationships/hyperlink" Target="https://www.w3schools.com/sql/sql_foreignkey.asp" TargetMode="External"/><Relationship Id="rId10" Type="http://schemas.openxmlformats.org/officeDocument/2006/relationships/hyperlink" Target="https://sudhass.medium.com/self-referencing-foreign-key-constraint-in-rdbms-and-self-join-b66186e672f7" TargetMode="External"/><Relationship Id="rId9" Type="http://schemas.openxmlformats.org/officeDocument/2006/relationships/hyperlink" Target="https://www.geeksforgeeks.org/sql/create-schema-in-sql-server/" TargetMode="External"/><Relationship Id="rId5" Type="http://schemas.openxmlformats.org/officeDocument/2006/relationships/hyperlink" Target="https://www.sqlshack.com/sql-server-inline-table-valued-function/" TargetMode="External"/><Relationship Id="rId6" Type="http://schemas.openxmlformats.org/officeDocument/2006/relationships/hyperlink" Target="https://sabihullahsaleh.medium.com/table-valued-functions-tvfs-in-sql-8706a3c0288b" TargetMode="External"/><Relationship Id="rId7" Type="http://schemas.openxmlformats.org/officeDocument/2006/relationships/hyperlink" Target="https://www.w3schools.com/sql/sql_create_table.asp" TargetMode="External"/><Relationship Id="rId8" Type="http://schemas.openxmlformats.org/officeDocument/2006/relationships/hyperlink" Target="https://www.tutorialspoint.com/t_sql/t_sql_create_tables.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3a91482f1c1_1_8"/>
          <p:cNvSpPr txBox="1"/>
          <p:nvPr>
            <p:ph type="title"/>
          </p:nvPr>
        </p:nvSpPr>
        <p:spPr>
          <a:xfrm>
            <a:off x="810075" y="888925"/>
            <a:ext cx="7911600" cy="35922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55384"/>
              <a:buNone/>
            </a:pPr>
            <a:r>
              <a:rPr lang="en" sz="6500"/>
              <a:t>PRESTIGE CARS</a:t>
            </a:r>
            <a:endParaRPr sz="6500"/>
          </a:p>
          <a:p>
            <a:pPr indent="0" lvl="0" marL="0" rtl="0" algn="ctr">
              <a:lnSpc>
                <a:spcPct val="100000"/>
              </a:lnSpc>
              <a:spcBef>
                <a:spcPts val="0"/>
              </a:spcBef>
              <a:spcAft>
                <a:spcPts val="0"/>
              </a:spcAft>
              <a:buSzPct val="55384"/>
              <a:buNone/>
            </a:pPr>
            <a:r>
              <a:rPr lang="en" sz="6500"/>
              <a:t>IMPLEMENTATION TEAM</a:t>
            </a:r>
            <a:endParaRPr sz="6500"/>
          </a:p>
          <a:p>
            <a:pPr indent="0" lvl="0" marL="0" rtl="0" algn="ctr">
              <a:lnSpc>
                <a:spcPct val="100000"/>
              </a:lnSpc>
              <a:spcBef>
                <a:spcPts val="0"/>
              </a:spcBef>
              <a:spcAft>
                <a:spcPts val="0"/>
              </a:spcAft>
              <a:buSzPct val="55384"/>
              <a:buNone/>
            </a:pPr>
            <a:r>
              <a:rPr lang="en" sz="6500"/>
              <a:t>GROUP 5</a:t>
            </a:r>
            <a:br>
              <a:rPr lang="en" sz="6500"/>
            </a:br>
            <a:r>
              <a:rPr b="0" lang="en" sz="1600">
                <a:solidFill>
                  <a:srgbClr val="17175A"/>
                </a:solidFill>
                <a:latin typeface="Inter"/>
                <a:ea typeface="Inter"/>
                <a:cs typeface="Inter"/>
                <a:sym typeface="Inter"/>
              </a:rPr>
              <a:t>Bryan Sanchez</a:t>
            </a:r>
            <a:br>
              <a:rPr b="0" lang="en" sz="1600">
                <a:solidFill>
                  <a:srgbClr val="17175A"/>
                </a:solidFill>
                <a:latin typeface="Inter"/>
                <a:ea typeface="Inter"/>
                <a:cs typeface="Inter"/>
                <a:sym typeface="Inter"/>
              </a:rPr>
            </a:br>
            <a:r>
              <a:rPr b="0" lang="en" sz="1600">
                <a:solidFill>
                  <a:srgbClr val="17175A"/>
                </a:solidFill>
                <a:latin typeface="Inter"/>
                <a:ea typeface="Inter"/>
                <a:cs typeface="Inter"/>
                <a:sym typeface="Inter"/>
              </a:rPr>
              <a:t>Devak Mehta</a:t>
            </a:r>
            <a:br>
              <a:rPr b="0" lang="en" sz="1600">
                <a:solidFill>
                  <a:srgbClr val="17175A"/>
                </a:solidFill>
                <a:latin typeface="Inter"/>
                <a:ea typeface="Inter"/>
                <a:cs typeface="Inter"/>
                <a:sym typeface="Inter"/>
              </a:rPr>
            </a:br>
            <a:r>
              <a:rPr b="0" lang="en" sz="1600">
                <a:solidFill>
                  <a:srgbClr val="17175A"/>
                </a:solidFill>
                <a:latin typeface="Inter"/>
                <a:ea typeface="Inter"/>
                <a:cs typeface="Inter"/>
                <a:sym typeface="Inter"/>
              </a:rPr>
              <a:t>Renzo Salazar Cueva</a:t>
            </a:r>
            <a:endParaRPr sz="6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g3aba9ccdbbc_0_10"/>
          <p:cNvPicPr preferRelativeResize="0"/>
          <p:nvPr/>
        </p:nvPicPr>
        <p:blipFill>
          <a:blip r:embed="rId3">
            <a:alphaModFix/>
          </a:blip>
          <a:stretch>
            <a:fillRect/>
          </a:stretch>
        </p:blipFill>
        <p:spPr>
          <a:xfrm>
            <a:off x="2744800" y="102700"/>
            <a:ext cx="2651050" cy="4710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g3aba9ccdbbc_0_1"/>
          <p:cNvPicPr preferRelativeResize="0"/>
          <p:nvPr/>
        </p:nvPicPr>
        <p:blipFill>
          <a:blip r:embed="rId3">
            <a:alphaModFix/>
          </a:blip>
          <a:stretch>
            <a:fillRect/>
          </a:stretch>
        </p:blipFill>
        <p:spPr>
          <a:xfrm>
            <a:off x="999325" y="152400"/>
            <a:ext cx="6984328"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3ab83d07921_0_5"/>
          <p:cNvSpPr txBox="1"/>
          <p:nvPr>
            <p:ph type="title"/>
          </p:nvPr>
        </p:nvSpPr>
        <p:spPr>
          <a:xfrm>
            <a:off x="208425" y="783800"/>
            <a:ext cx="8571300" cy="942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RENZO</a:t>
            </a:r>
            <a:endParaRPr/>
          </a:p>
          <a:p>
            <a:pPr indent="0" lvl="0" marL="0" rtl="0" algn="ctr">
              <a:spcBef>
                <a:spcPts val="0"/>
              </a:spcBef>
              <a:spcAft>
                <a:spcPts val="0"/>
              </a:spcAft>
              <a:buNone/>
            </a:pPr>
            <a:r>
              <a:rPr lang="en"/>
              <a:t>HumanResources and Process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3ab83d07921_0_67"/>
          <p:cNvSpPr txBox="1"/>
          <p:nvPr>
            <p:ph type="title"/>
          </p:nvPr>
        </p:nvSpPr>
        <p:spPr>
          <a:xfrm>
            <a:off x="419750" y="4781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Schema</a:t>
            </a:r>
            <a:endParaRPr/>
          </a:p>
        </p:txBody>
      </p:sp>
      <p:sp>
        <p:nvSpPr>
          <p:cNvPr id="87" name="Google Shape;87;g3ab83d07921_0_67"/>
          <p:cNvSpPr txBox="1"/>
          <p:nvPr>
            <p:ph idx="1" type="body"/>
          </p:nvPr>
        </p:nvSpPr>
        <p:spPr>
          <a:xfrm>
            <a:off x="149075" y="1266325"/>
            <a:ext cx="3098400" cy="3302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solidFill>
                  <a:srgbClr val="000000"/>
                </a:solidFill>
                <a:latin typeface="Courier New"/>
                <a:ea typeface="Courier New"/>
                <a:cs typeface="Courier New"/>
                <a:sym typeface="Courier New"/>
              </a:rPr>
              <a:t>USE [PrestigeCars_Project3];</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000000"/>
                </a:solidFill>
                <a:latin typeface="Courier New"/>
                <a:ea typeface="Courier New"/>
                <a:cs typeface="Courier New"/>
                <a:sym typeface="Courier New"/>
              </a:rPr>
              <a:t>GO</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000000"/>
                </a:solidFill>
                <a:latin typeface="Courier New"/>
                <a:ea typeface="Courier New"/>
                <a:cs typeface="Courier New"/>
                <a:sym typeface="Courier New"/>
              </a:rPr>
              <a:t>CREATE SCHEMA Udt;</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000000"/>
                </a:solidFill>
                <a:latin typeface="Courier New"/>
                <a:ea typeface="Courier New"/>
                <a:cs typeface="Courier New"/>
                <a:sym typeface="Courier New"/>
              </a:rPr>
              <a:t>GO</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000000"/>
                </a:solidFill>
                <a:latin typeface="Courier New"/>
                <a:ea typeface="Courier New"/>
                <a:cs typeface="Courier New"/>
                <a:sym typeface="Courier New"/>
              </a:rPr>
              <a:t>CREATE SCHEMA HumanResources;</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000000"/>
                </a:solidFill>
                <a:latin typeface="Courier New"/>
                <a:ea typeface="Courier New"/>
                <a:cs typeface="Courier New"/>
                <a:sym typeface="Courier New"/>
              </a:rPr>
              <a:t>GO</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000000"/>
                </a:solidFill>
                <a:latin typeface="Courier New"/>
                <a:ea typeface="Courier New"/>
                <a:cs typeface="Courier New"/>
                <a:sym typeface="Courier New"/>
              </a:rPr>
              <a:t>CREATE SCHEMA Process;</a:t>
            </a:r>
            <a:endParaRPr b="1">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a:solidFill>
                  <a:srgbClr val="000000"/>
                </a:solidFill>
                <a:latin typeface="Courier New"/>
                <a:ea typeface="Courier New"/>
                <a:cs typeface="Courier New"/>
                <a:sym typeface="Courier New"/>
              </a:rPr>
              <a:t>GO</a:t>
            </a:r>
            <a:endParaRPr b="1">
              <a:solidFill>
                <a:srgbClr val="000000"/>
              </a:solidFill>
              <a:latin typeface="Courier New"/>
              <a:ea typeface="Courier New"/>
              <a:cs typeface="Courier New"/>
              <a:sym typeface="Courier New"/>
            </a:endParaRPr>
          </a:p>
        </p:txBody>
      </p:sp>
      <p:pic>
        <p:nvPicPr>
          <p:cNvPr id="88" name="Google Shape;88;g3ab83d07921_0_67"/>
          <p:cNvPicPr preferRelativeResize="0"/>
          <p:nvPr/>
        </p:nvPicPr>
        <p:blipFill>
          <a:blip r:embed="rId3">
            <a:alphaModFix/>
          </a:blip>
          <a:stretch>
            <a:fillRect/>
          </a:stretch>
        </p:blipFill>
        <p:spPr>
          <a:xfrm>
            <a:off x="3383150" y="728613"/>
            <a:ext cx="2038233" cy="3686275"/>
          </a:xfrm>
          <a:prstGeom prst="rect">
            <a:avLst/>
          </a:prstGeom>
          <a:noFill/>
          <a:ln>
            <a:noFill/>
          </a:ln>
        </p:spPr>
      </p:pic>
      <p:sp>
        <p:nvSpPr>
          <p:cNvPr id="89" name="Google Shape;89;g3ab83d07921_0_67"/>
          <p:cNvSpPr txBox="1"/>
          <p:nvPr>
            <p:ph idx="1" type="body"/>
          </p:nvPr>
        </p:nvSpPr>
        <p:spPr>
          <a:xfrm>
            <a:off x="5421375" y="780225"/>
            <a:ext cx="3261000" cy="378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These are the schemas that I needed to create before I start creating my Udts, Tables and ITVFs </a:t>
            </a:r>
            <a:endParaRPr/>
          </a:p>
        </p:txBody>
      </p:sp>
      <p:pic>
        <p:nvPicPr>
          <p:cNvPr id="90" name="Google Shape;90;g3ab83d07921_0_67"/>
          <p:cNvPicPr preferRelativeResize="0"/>
          <p:nvPr/>
        </p:nvPicPr>
        <p:blipFill>
          <a:blip r:embed="rId4">
            <a:alphaModFix/>
          </a:blip>
          <a:stretch>
            <a:fillRect/>
          </a:stretch>
        </p:blipFill>
        <p:spPr>
          <a:xfrm>
            <a:off x="5368200" y="3661505"/>
            <a:ext cx="3572151" cy="1139800"/>
          </a:xfrm>
          <a:prstGeom prst="rect">
            <a:avLst/>
          </a:prstGeom>
          <a:noFill/>
          <a:ln>
            <a:noFill/>
          </a:ln>
        </p:spPr>
      </p:pic>
      <p:pic>
        <p:nvPicPr>
          <p:cNvPr id="91" name="Google Shape;91;g3ab83d07921_0_67"/>
          <p:cNvPicPr preferRelativeResize="0"/>
          <p:nvPr/>
        </p:nvPicPr>
        <p:blipFill>
          <a:blip r:embed="rId5">
            <a:alphaModFix/>
          </a:blip>
          <a:stretch>
            <a:fillRect/>
          </a:stretch>
        </p:blipFill>
        <p:spPr>
          <a:xfrm>
            <a:off x="6131775" y="2494825"/>
            <a:ext cx="1784200" cy="1232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ab83d07921_0_17"/>
          <p:cNvSpPr txBox="1"/>
          <p:nvPr>
            <p:ph type="title"/>
          </p:nvPr>
        </p:nvSpPr>
        <p:spPr>
          <a:xfrm>
            <a:off x="270375" y="628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UDTs</a:t>
            </a:r>
            <a:endParaRPr/>
          </a:p>
        </p:txBody>
      </p:sp>
      <p:sp>
        <p:nvSpPr>
          <p:cNvPr id="97" name="Google Shape;97;g3ab83d07921_0_17"/>
          <p:cNvSpPr txBox="1"/>
          <p:nvPr>
            <p:ph idx="1" type="body"/>
          </p:nvPr>
        </p:nvSpPr>
        <p:spPr>
          <a:xfrm>
            <a:off x="270375" y="770275"/>
            <a:ext cx="3163200" cy="419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Udt.SurrogateKeyInt</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INT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Udt.PersonFirstName</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VARCHAR(50)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Udt.PersonLastName</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VARCHAR(50)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Udt.EmailAddress</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VARCHAR(255)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Udt.PhoneNumber</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VARCHAR(20)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Udt.AddressLine</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VARCHAR(100)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Udt.CityName</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VARCHAR(50)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Udt.PostalCode</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VARCHAR(15)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Udt.PersonFullName</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VARCHAR(100)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Udt.DepartmentName</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VARCHAR(50) NOT NULL;</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CREATE TYPE Udt.HierarchyReference</a:t>
            </a:r>
            <a:endParaRPr b="1" sz="820">
              <a:solidFill>
                <a:srgbClr val="212121"/>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b="1" lang="en" sz="820">
                <a:solidFill>
                  <a:srgbClr val="212121"/>
                </a:solidFill>
                <a:latin typeface="Courier New"/>
                <a:ea typeface="Courier New"/>
                <a:cs typeface="Courier New"/>
                <a:sym typeface="Courier New"/>
              </a:rPr>
              <a:t>FROM INT NULL;</a:t>
            </a:r>
            <a:endParaRPr b="1" sz="820">
              <a:solidFill>
                <a:srgbClr val="212121"/>
              </a:solidFill>
              <a:latin typeface="Courier New"/>
              <a:ea typeface="Courier New"/>
              <a:cs typeface="Courier New"/>
              <a:sym typeface="Courier New"/>
            </a:endParaRPr>
          </a:p>
        </p:txBody>
      </p:sp>
      <p:pic>
        <p:nvPicPr>
          <p:cNvPr id="98" name="Google Shape;98;g3ab83d07921_0_17"/>
          <p:cNvPicPr preferRelativeResize="0"/>
          <p:nvPr/>
        </p:nvPicPr>
        <p:blipFill>
          <a:blip r:embed="rId3">
            <a:alphaModFix/>
          </a:blip>
          <a:stretch>
            <a:fillRect/>
          </a:stretch>
        </p:blipFill>
        <p:spPr>
          <a:xfrm>
            <a:off x="2852650" y="674800"/>
            <a:ext cx="2584203" cy="4068425"/>
          </a:xfrm>
          <a:prstGeom prst="rect">
            <a:avLst/>
          </a:prstGeom>
          <a:noFill/>
          <a:ln>
            <a:noFill/>
          </a:ln>
        </p:spPr>
      </p:pic>
      <p:sp>
        <p:nvSpPr>
          <p:cNvPr id="99" name="Google Shape;99;g3ab83d07921_0_17"/>
          <p:cNvSpPr txBox="1"/>
          <p:nvPr>
            <p:ph idx="1" type="body"/>
          </p:nvPr>
        </p:nvSpPr>
        <p:spPr>
          <a:xfrm>
            <a:off x="5421375" y="780225"/>
            <a:ext cx="3261000" cy="378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UDTs that are used in the Tables under the HumanResources schema.</a:t>
            </a:r>
            <a:endParaRPr/>
          </a:p>
          <a:p>
            <a:pPr indent="-342900" lvl="0" marL="457200" rtl="0" algn="l">
              <a:spcBef>
                <a:spcPts val="0"/>
              </a:spcBef>
              <a:spcAft>
                <a:spcPts val="0"/>
              </a:spcAft>
              <a:buSzPts val="1800"/>
              <a:buChar char="●"/>
            </a:pPr>
            <a:r>
              <a:rPr lang="en"/>
              <a:t>Reason for making UDTs is to ensure that the same data follows the same format and constraints/rules.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aba9ccdbbc_0_24"/>
          <p:cNvSpPr txBox="1"/>
          <p:nvPr>
            <p:ph type="title"/>
          </p:nvPr>
        </p:nvSpPr>
        <p:spPr>
          <a:xfrm>
            <a:off x="270375" y="628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Tables</a:t>
            </a:r>
            <a:endParaRPr/>
          </a:p>
        </p:txBody>
      </p:sp>
      <p:sp>
        <p:nvSpPr>
          <p:cNvPr id="105" name="Google Shape;105;g3aba9ccdbbc_0_24"/>
          <p:cNvSpPr txBox="1"/>
          <p:nvPr>
            <p:ph idx="1" type="body"/>
          </p:nvPr>
        </p:nvSpPr>
        <p:spPr>
          <a:xfrm>
            <a:off x="84475" y="770275"/>
            <a:ext cx="4309500" cy="3872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USE [PrestigeCars_Project3];</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GO</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CREATE TABLE HumanResources.Customer(</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CustomerId Udt.SurrogateKeyInt IDENTITY(1,1) PRIMARY KEY,</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FirstName Udt.PersonFirstName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LastName Udt.PersonLastName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Email Udt.EmailAddress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Phone Udt.PhoneNumber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AddressLine Udt.AddressLine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City Udt.CityName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PostalCode Udt.PostalCode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CountryId Udt.SurrogateKeyInt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FOREIGN KEY (CountryId) REFERENCES ReferenceData.Country(CountryId)</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lang="en" sz="820">
                <a:solidFill>
                  <a:srgbClr val="000000"/>
                </a:solidFill>
                <a:latin typeface="Courier New"/>
                <a:ea typeface="Courier New"/>
                <a:cs typeface="Courier New"/>
                <a:sym typeface="Courier New"/>
              </a:rPr>
              <a:t>);</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GO</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CREATE TABLE HumanResources.Staff(</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StaffId Udt.SurrogateKeyInt IDENTITY(1,1) PRIMARY KEY,</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StaffName Udt.PersonFullName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ManagerId Udt.SurrogateKeyInt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Department Udt.DepartmentName NOT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HierarchyReference Udt.HierarchyReference NULL,</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820">
                <a:solidFill>
                  <a:srgbClr val="000000"/>
                </a:solidFill>
                <a:latin typeface="Courier New"/>
                <a:ea typeface="Courier New"/>
                <a:cs typeface="Courier New"/>
                <a:sym typeface="Courier New"/>
              </a:rPr>
              <a:t>    FOREIGN KEY (ManagerId) REFERENCES HumanResources.Staff(StaffId)</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rPr lang="en" sz="820">
                <a:solidFill>
                  <a:srgbClr val="000000"/>
                </a:solidFill>
                <a:latin typeface="Courier New"/>
                <a:ea typeface="Courier New"/>
                <a:cs typeface="Courier New"/>
                <a:sym typeface="Courier New"/>
              </a:rPr>
              <a:t>);</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sz="820">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440"/>
              <a:buNone/>
            </a:pPr>
            <a:r>
              <a:t/>
            </a:r>
            <a:endParaRPr sz="820">
              <a:solidFill>
                <a:srgbClr val="000000"/>
              </a:solidFill>
              <a:latin typeface="Courier New"/>
              <a:ea typeface="Courier New"/>
              <a:cs typeface="Courier New"/>
              <a:sym typeface="Courier New"/>
            </a:endParaRPr>
          </a:p>
        </p:txBody>
      </p:sp>
      <p:sp>
        <p:nvSpPr>
          <p:cNvPr id="106" name="Google Shape;106;g3aba9ccdbbc_0_24"/>
          <p:cNvSpPr txBox="1"/>
          <p:nvPr>
            <p:ph idx="1" type="body"/>
          </p:nvPr>
        </p:nvSpPr>
        <p:spPr>
          <a:xfrm>
            <a:off x="5292400" y="522025"/>
            <a:ext cx="3261000" cy="3789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With our Schemas and UDTs created, creating the tables are now cleaner and easier to read.</a:t>
            </a:r>
            <a:endParaRPr/>
          </a:p>
          <a:p>
            <a:pPr indent="-342900" lvl="0" marL="457200" rtl="0" algn="l">
              <a:spcBef>
                <a:spcPts val="0"/>
              </a:spcBef>
              <a:spcAft>
                <a:spcPts val="0"/>
              </a:spcAft>
              <a:buSzPts val="1800"/>
              <a:buChar char="●"/>
            </a:pPr>
            <a:r>
              <a:rPr lang="en"/>
              <a:t>Data is also organized under different schemas.</a:t>
            </a:r>
            <a:endParaRPr/>
          </a:p>
        </p:txBody>
      </p:sp>
      <p:sp>
        <p:nvSpPr>
          <p:cNvPr id="107" name="Google Shape;107;g3aba9ccdbbc_0_24"/>
          <p:cNvSpPr txBox="1"/>
          <p:nvPr/>
        </p:nvSpPr>
        <p:spPr>
          <a:xfrm>
            <a:off x="2586575" y="191525"/>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Courier New"/>
                <a:ea typeface="Courier New"/>
                <a:cs typeface="Courier New"/>
                <a:sym typeface="Courier New"/>
              </a:rPr>
              <a:t>CREATE TABLE Process.WorkflowSteps(</a:t>
            </a:r>
            <a:endParaRPr sz="800">
              <a:latin typeface="Courier New"/>
              <a:ea typeface="Courier New"/>
              <a:cs typeface="Courier New"/>
              <a:sym typeface="Courier New"/>
            </a:endParaRPr>
          </a:p>
          <a:p>
            <a:pPr indent="0" lvl="0" marL="0" rtl="0" algn="l">
              <a:spcBef>
                <a:spcPts val="0"/>
              </a:spcBef>
              <a:spcAft>
                <a:spcPts val="0"/>
              </a:spcAft>
              <a:buNone/>
            </a:pPr>
            <a:r>
              <a:rPr lang="en" sz="800">
                <a:latin typeface="Courier New"/>
                <a:ea typeface="Courier New"/>
                <a:cs typeface="Courier New"/>
                <a:sym typeface="Courier New"/>
              </a:rPr>
              <a:t>    StepId Udt.SurrogateKeyInt IDENTITY(1,1) PRIMARY KEY,</a:t>
            </a:r>
            <a:endParaRPr sz="800">
              <a:latin typeface="Courier New"/>
              <a:ea typeface="Courier New"/>
              <a:cs typeface="Courier New"/>
              <a:sym typeface="Courier New"/>
            </a:endParaRPr>
          </a:p>
          <a:p>
            <a:pPr indent="0" lvl="0" marL="0" rtl="0" algn="l">
              <a:spcBef>
                <a:spcPts val="0"/>
              </a:spcBef>
              <a:spcAft>
                <a:spcPts val="0"/>
              </a:spcAft>
              <a:buNone/>
            </a:pPr>
            <a:r>
              <a:rPr lang="en" sz="800">
                <a:latin typeface="Courier New"/>
                <a:ea typeface="Courier New"/>
                <a:cs typeface="Courier New"/>
                <a:sym typeface="Courier New"/>
              </a:rPr>
              <a:t>    StepName VARCHAR(100) NOT NULL,</a:t>
            </a:r>
            <a:endParaRPr sz="800">
              <a:latin typeface="Courier New"/>
              <a:ea typeface="Courier New"/>
              <a:cs typeface="Courier New"/>
              <a:sym typeface="Courier New"/>
            </a:endParaRPr>
          </a:p>
          <a:p>
            <a:pPr indent="0" lvl="0" marL="0" rtl="0" algn="l">
              <a:spcBef>
                <a:spcPts val="0"/>
              </a:spcBef>
              <a:spcAft>
                <a:spcPts val="0"/>
              </a:spcAft>
              <a:buNone/>
            </a:pPr>
            <a:r>
              <a:rPr lang="en" sz="800">
                <a:latin typeface="Courier New"/>
                <a:ea typeface="Courier New"/>
                <a:cs typeface="Courier New"/>
                <a:sym typeface="Courier New"/>
              </a:rPr>
              <a:t>    StepDescription VARCHAR(255) NULL,</a:t>
            </a:r>
            <a:endParaRPr sz="800">
              <a:latin typeface="Courier New"/>
              <a:ea typeface="Courier New"/>
              <a:cs typeface="Courier New"/>
              <a:sym typeface="Courier New"/>
            </a:endParaRPr>
          </a:p>
          <a:p>
            <a:pPr indent="0" lvl="0" marL="0" rtl="0" algn="l">
              <a:spcBef>
                <a:spcPts val="0"/>
              </a:spcBef>
              <a:spcAft>
                <a:spcPts val="0"/>
              </a:spcAft>
              <a:buNone/>
            </a:pPr>
            <a:r>
              <a:rPr lang="en" sz="800">
                <a:latin typeface="Courier New"/>
                <a:ea typeface="Courier New"/>
                <a:cs typeface="Courier New"/>
                <a:sym typeface="Courier New"/>
              </a:rPr>
              <a:t>    StepOrder INT NOT NULL</a:t>
            </a:r>
            <a:endParaRPr sz="800">
              <a:latin typeface="Courier New"/>
              <a:ea typeface="Courier New"/>
              <a:cs typeface="Courier New"/>
              <a:sym typeface="Courier New"/>
            </a:endParaRPr>
          </a:p>
          <a:p>
            <a:pPr indent="0" lvl="0" marL="0" rtl="0" algn="l">
              <a:spcBef>
                <a:spcPts val="0"/>
              </a:spcBef>
              <a:spcAft>
                <a:spcPts val="0"/>
              </a:spcAft>
              <a:buNone/>
            </a:pPr>
            <a:r>
              <a:rPr lang="en" sz="800">
                <a:latin typeface="Courier New"/>
                <a:ea typeface="Courier New"/>
                <a:cs typeface="Courier New"/>
                <a:sym typeface="Courier New"/>
              </a:rPr>
              <a:t>);</a:t>
            </a:r>
            <a:endParaRPr sz="800">
              <a:latin typeface="Courier New"/>
              <a:ea typeface="Courier New"/>
              <a:cs typeface="Courier New"/>
              <a:sym typeface="Courier New"/>
            </a:endParaRPr>
          </a:p>
        </p:txBody>
      </p:sp>
      <p:pic>
        <p:nvPicPr>
          <p:cNvPr id="108" name="Google Shape;108;g3aba9ccdbbc_0_24"/>
          <p:cNvPicPr preferRelativeResize="0"/>
          <p:nvPr/>
        </p:nvPicPr>
        <p:blipFill>
          <a:blip r:embed="rId3">
            <a:alphaModFix/>
          </a:blip>
          <a:stretch>
            <a:fillRect/>
          </a:stretch>
        </p:blipFill>
        <p:spPr>
          <a:xfrm>
            <a:off x="3090575" y="2139900"/>
            <a:ext cx="2343150" cy="781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aba9ccdbbc_0_31"/>
          <p:cNvSpPr txBox="1"/>
          <p:nvPr>
            <p:ph type="title"/>
          </p:nvPr>
        </p:nvSpPr>
        <p:spPr>
          <a:xfrm>
            <a:off x="198075"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ITVFs</a:t>
            </a:r>
            <a:endParaRPr/>
          </a:p>
        </p:txBody>
      </p:sp>
      <p:sp>
        <p:nvSpPr>
          <p:cNvPr id="114" name="Google Shape;114;g3aba9ccdbbc_0_31"/>
          <p:cNvSpPr txBox="1"/>
          <p:nvPr>
            <p:ph idx="1" type="body"/>
          </p:nvPr>
        </p:nvSpPr>
        <p:spPr>
          <a:xfrm>
            <a:off x="94800" y="574325"/>
            <a:ext cx="7366800" cy="25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b="1" lang="en" sz="850">
                <a:solidFill>
                  <a:srgbClr val="000000"/>
                </a:solidFill>
                <a:latin typeface="Courier New"/>
                <a:ea typeface="Courier New"/>
                <a:cs typeface="Courier New"/>
                <a:sym typeface="Courier New"/>
              </a:rPr>
              <a:t>--Retrieves Customers by their 2 letter Country Code</a:t>
            </a:r>
            <a:endParaRPr b="1"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CREATE FUNCTION HumanResources.GetCustomersByCountryISO2</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    @CountryISO2 CHAR(2)</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RETURNS TABLE</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AS</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RETURN</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    SELECT c.CustomerId,c.FirstName,c.LastName,c.Email,c.Phone,c.City, rf.CountryName,rf.CountryISO2</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    FROM HumanResources.Customer AS c</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    INNER JOIN ReferenceData.Country AS rf </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        ON c.CountryId = rf.CountryId</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    WHERE rf.CountryISO2 = @CountryISO2</a:t>
            </a:r>
            <a:endParaRPr sz="850">
              <a:solidFill>
                <a:srgbClr val="000000"/>
              </a:solidFill>
              <a:latin typeface="Courier New"/>
              <a:ea typeface="Courier New"/>
              <a:cs typeface="Courier New"/>
              <a:sym typeface="Courier New"/>
            </a:endParaRPr>
          </a:p>
          <a:p>
            <a:pPr indent="0" lvl="0" marL="0" rtl="0" algn="l">
              <a:spcBef>
                <a:spcPts val="0"/>
              </a:spcBef>
              <a:spcAft>
                <a:spcPts val="0"/>
              </a:spcAft>
              <a:buSzPts val="275"/>
              <a:buNone/>
            </a:pPr>
            <a:r>
              <a:rPr lang="en" sz="850">
                <a:solidFill>
                  <a:srgbClr val="000000"/>
                </a:solidFill>
                <a:latin typeface="Courier New"/>
                <a:ea typeface="Courier New"/>
                <a:cs typeface="Courier New"/>
                <a:sym typeface="Courier New"/>
              </a:rPr>
              <a:t>);</a:t>
            </a:r>
            <a:endParaRPr sz="850">
              <a:solidFill>
                <a:srgbClr val="000000"/>
              </a:solidFill>
              <a:latin typeface="Courier New"/>
              <a:ea typeface="Courier New"/>
              <a:cs typeface="Courier New"/>
              <a:sym typeface="Courier New"/>
            </a:endParaRPr>
          </a:p>
        </p:txBody>
      </p:sp>
      <p:sp>
        <p:nvSpPr>
          <p:cNvPr id="115" name="Google Shape;115;g3aba9ccdbbc_0_31"/>
          <p:cNvSpPr txBox="1"/>
          <p:nvPr>
            <p:ph idx="1" type="body"/>
          </p:nvPr>
        </p:nvSpPr>
        <p:spPr>
          <a:xfrm>
            <a:off x="4792325" y="205050"/>
            <a:ext cx="3826500" cy="1786800"/>
          </a:xfrm>
          <a:prstGeom prst="rect">
            <a:avLst/>
          </a:prstGeom>
        </p:spPr>
        <p:txBody>
          <a:bodyPr anchorCtr="0" anchor="t" bIns="91425" lIns="91425" spcFirstLastPara="1" rIns="91425" wrap="square" tIns="91425">
            <a:normAutofit lnSpcReduction="20000"/>
          </a:bodyPr>
          <a:lstStyle/>
          <a:p>
            <a:pPr indent="0" lvl="0" marL="0" rtl="0" algn="l">
              <a:lnSpc>
                <a:spcPct val="95000"/>
              </a:lnSpc>
              <a:spcBef>
                <a:spcPts val="0"/>
              </a:spcBef>
              <a:spcAft>
                <a:spcPts val="0"/>
              </a:spcAft>
              <a:buSzPts val="688"/>
              <a:buNone/>
            </a:pPr>
            <a:r>
              <a:rPr b="1" lang="en" sz="925">
                <a:solidFill>
                  <a:srgbClr val="000000"/>
                </a:solidFill>
                <a:latin typeface="Courier New"/>
                <a:ea typeface="Courier New"/>
                <a:cs typeface="Courier New"/>
                <a:sym typeface="Courier New"/>
              </a:rPr>
              <a:t>--Find the people under a specific department</a:t>
            </a:r>
            <a:endParaRPr b="1"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CREATE FUNCTION HumanResources.GetStaffByDepartment</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    @DepartmentName VARCHAR(50)</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RETURNS TABLE</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AS</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RETURN</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    SELECT StaffId,StaffName,Department</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    FROM HumanResources.Staff</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    WHERE Department = @DepartmentName</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a:t>
            </a:r>
            <a:endParaRPr sz="925">
              <a:solidFill>
                <a:srgbClr val="000000"/>
              </a:solidFill>
              <a:latin typeface="Courier New"/>
              <a:ea typeface="Courier New"/>
              <a:cs typeface="Courier New"/>
              <a:sym typeface="Courier New"/>
            </a:endParaRPr>
          </a:p>
          <a:p>
            <a:pPr indent="0" lvl="0" marL="0" rtl="0" algn="l">
              <a:lnSpc>
                <a:spcPct val="95000"/>
              </a:lnSpc>
              <a:spcBef>
                <a:spcPts val="0"/>
              </a:spcBef>
              <a:spcAft>
                <a:spcPts val="0"/>
              </a:spcAft>
              <a:buSzPts val="688"/>
              <a:buNone/>
            </a:pPr>
            <a:r>
              <a:rPr lang="en" sz="925">
                <a:solidFill>
                  <a:srgbClr val="000000"/>
                </a:solidFill>
                <a:latin typeface="Courier New"/>
                <a:ea typeface="Courier New"/>
                <a:cs typeface="Courier New"/>
                <a:sym typeface="Courier New"/>
              </a:rPr>
              <a:t>GO</a:t>
            </a:r>
            <a:endParaRPr sz="925">
              <a:solidFill>
                <a:srgbClr val="000000"/>
              </a:solidFill>
              <a:latin typeface="Courier New"/>
              <a:ea typeface="Courier New"/>
              <a:cs typeface="Courier New"/>
              <a:sym typeface="Courier New"/>
            </a:endParaRPr>
          </a:p>
        </p:txBody>
      </p:sp>
      <p:sp>
        <p:nvSpPr>
          <p:cNvPr id="116" name="Google Shape;116;g3aba9ccdbbc_0_31"/>
          <p:cNvSpPr txBox="1"/>
          <p:nvPr/>
        </p:nvSpPr>
        <p:spPr>
          <a:xfrm>
            <a:off x="3130125" y="2220625"/>
            <a:ext cx="6013800" cy="263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50">
                <a:latin typeface="Courier New"/>
                <a:ea typeface="Courier New"/>
                <a:cs typeface="Courier New"/>
                <a:sym typeface="Courier New"/>
              </a:rPr>
              <a:t>--Retrieves Customers by their 3 letter Country Code</a:t>
            </a:r>
            <a:endParaRPr b="1"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CREATE FUNCTION HumanResources.GetCustomersByCountryISO3</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    @CountryISO3 CHAR(3)</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RETURNS TABLE</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AS</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RETURN</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    </a:t>
            </a:r>
            <a:r>
              <a:rPr lang="en" sz="850">
                <a:latin typeface="Courier New"/>
                <a:ea typeface="Courier New"/>
                <a:cs typeface="Courier New"/>
                <a:sym typeface="Courier New"/>
              </a:rPr>
              <a:t>SELECT c.CustomerId,c.FirstName,c.LastName,c.Email,c.Phone,c.City,rf.CountryName,rf.CountryISO3</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    FROM HumanResources.Customer AS c</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    INNER JOIN ReferenceData.Country AS rf </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        ON c.CountryId = rf.CountryId</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    WHERE rf.CountryISO3 = @CountryISO3</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a:t>
            </a:r>
            <a:endParaRPr sz="850">
              <a:latin typeface="Courier New"/>
              <a:ea typeface="Courier New"/>
              <a:cs typeface="Courier New"/>
              <a:sym typeface="Courier New"/>
            </a:endParaRPr>
          </a:p>
          <a:p>
            <a:pPr indent="0" lvl="0" marL="0" rtl="0" algn="l">
              <a:lnSpc>
                <a:spcPct val="115000"/>
              </a:lnSpc>
              <a:spcBef>
                <a:spcPts val="0"/>
              </a:spcBef>
              <a:spcAft>
                <a:spcPts val="0"/>
              </a:spcAft>
              <a:buNone/>
            </a:pPr>
            <a:r>
              <a:rPr lang="en" sz="850">
                <a:latin typeface="Courier New"/>
                <a:ea typeface="Courier New"/>
                <a:cs typeface="Courier New"/>
                <a:sym typeface="Courier New"/>
              </a:rPr>
              <a:t>GO</a:t>
            </a:r>
            <a:endParaRPr sz="850">
              <a:latin typeface="Courier New"/>
              <a:ea typeface="Courier New"/>
              <a:cs typeface="Courier New"/>
              <a:sym typeface="Courier New"/>
            </a:endParaRPr>
          </a:p>
        </p:txBody>
      </p:sp>
      <p:pic>
        <p:nvPicPr>
          <p:cNvPr id="117" name="Google Shape;117;g3aba9ccdbbc_0_31"/>
          <p:cNvPicPr preferRelativeResize="0"/>
          <p:nvPr/>
        </p:nvPicPr>
        <p:blipFill>
          <a:blip r:embed="rId3">
            <a:alphaModFix/>
          </a:blip>
          <a:stretch>
            <a:fillRect/>
          </a:stretch>
        </p:blipFill>
        <p:spPr>
          <a:xfrm>
            <a:off x="0" y="3356100"/>
            <a:ext cx="3130125" cy="5437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aba9ccdbbc_0_47"/>
          <p:cNvSpPr txBox="1"/>
          <p:nvPr>
            <p:ph type="title"/>
          </p:nvPr>
        </p:nvSpPr>
        <p:spPr>
          <a:xfrm>
            <a:off x="94825" y="525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ITVFs - CONTINUED</a:t>
            </a:r>
            <a:endParaRPr/>
          </a:p>
        </p:txBody>
      </p:sp>
      <p:sp>
        <p:nvSpPr>
          <p:cNvPr id="123" name="Google Shape;123;g3aba9ccdbbc_0_47"/>
          <p:cNvSpPr txBox="1"/>
          <p:nvPr>
            <p:ph idx="1" type="body"/>
          </p:nvPr>
        </p:nvSpPr>
        <p:spPr>
          <a:xfrm>
            <a:off x="94825" y="667275"/>
            <a:ext cx="4867200" cy="98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000000"/>
                </a:solidFill>
                <a:latin typeface="Courier New"/>
                <a:ea typeface="Courier New"/>
                <a:cs typeface="Courier New"/>
                <a:sym typeface="Courier New"/>
              </a:rPr>
              <a:t>SELECT * </a:t>
            </a:r>
            <a:endParaRPr sz="1200">
              <a:solidFill>
                <a:srgbClr val="000000"/>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00000"/>
                </a:solidFill>
                <a:latin typeface="Courier New"/>
                <a:ea typeface="Courier New"/>
                <a:cs typeface="Courier New"/>
                <a:sym typeface="Courier New"/>
              </a:rPr>
              <a:t>FROM HumanResources.GetCustomersByCountryISO2('US');</a:t>
            </a:r>
            <a:endParaRPr sz="1200">
              <a:solidFill>
                <a:srgbClr val="000000"/>
              </a:solidFill>
              <a:latin typeface="Courier New"/>
              <a:ea typeface="Courier New"/>
              <a:cs typeface="Courier New"/>
              <a:sym typeface="Courier New"/>
            </a:endParaRPr>
          </a:p>
        </p:txBody>
      </p:sp>
      <p:pic>
        <p:nvPicPr>
          <p:cNvPr id="124" name="Google Shape;124;g3aba9ccdbbc_0_47"/>
          <p:cNvPicPr preferRelativeResize="0"/>
          <p:nvPr/>
        </p:nvPicPr>
        <p:blipFill>
          <a:blip r:embed="rId3">
            <a:alphaModFix/>
          </a:blip>
          <a:stretch>
            <a:fillRect/>
          </a:stretch>
        </p:blipFill>
        <p:spPr>
          <a:xfrm>
            <a:off x="94825" y="1429275"/>
            <a:ext cx="7345300" cy="880300"/>
          </a:xfrm>
          <a:prstGeom prst="rect">
            <a:avLst/>
          </a:prstGeom>
          <a:noFill/>
          <a:ln>
            <a:noFill/>
          </a:ln>
        </p:spPr>
      </p:pic>
      <p:sp>
        <p:nvSpPr>
          <p:cNvPr id="125" name="Google Shape;125;g3aba9ccdbbc_0_47"/>
          <p:cNvSpPr txBox="1"/>
          <p:nvPr>
            <p:ph idx="1" type="body"/>
          </p:nvPr>
        </p:nvSpPr>
        <p:spPr>
          <a:xfrm>
            <a:off x="94825" y="2309575"/>
            <a:ext cx="4867200" cy="98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000000"/>
                </a:solidFill>
                <a:latin typeface="Courier New"/>
                <a:ea typeface="Courier New"/>
                <a:cs typeface="Courier New"/>
                <a:sym typeface="Courier New"/>
              </a:rPr>
              <a:t>SELECT *</a:t>
            </a:r>
            <a:endParaRPr sz="1200">
              <a:solidFill>
                <a:srgbClr val="000000"/>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00000"/>
                </a:solidFill>
                <a:latin typeface="Courier New"/>
                <a:ea typeface="Courier New"/>
                <a:cs typeface="Courier New"/>
                <a:sym typeface="Courier New"/>
              </a:rPr>
              <a:t>FROM HumanResources.GetStaffByDepartment('Sales');</a:t>
            </a:r>
            <a:endParaRPr sz="1200">
              <a:solidFill>
                <a:srgbClr val="000000"/>
              </a:solidFill>
              <a:latin typeface="Courier New"/>
              <a:ea typeface="Courier New"/>
              <a:cs typeface="Courier New"/>
              <a:sym typeface="Courier New"/>
            </a:endParaRPr>
          </a:p>
        </p:txBody>
      </p:sp>
      <p:pic>
        <p:nvPicPr>
          <p:cNvPr id="126" name="Google Shape;126;g3aba9ccdbbc_0_47"/>
          <p:cNvPicPr preferRelativeResize="0"/>
          <p:nvPr/>
        </p:nvPicPr>
        <p:blipFill>
          <a:blip r:embed="rId4">
            <a:alphaModFix/>
          </a:blip>
          <a:stretch>
            <a:fillRect/>
          </a:stretch>
        </p:blipFill>
        <p:spPr>
          <a:xfrm>
            <a:off x="400250" y="3084500"/>
            <a:ext cx="2400300" cy="1543050"/>
          </a:xfrm>
          <a:prstGeom prst="rect">
            <a:avLst/>
          </a:prstGeom>
          <a:noFill/>
          <a:ln>
            <a:noFill/>
          </a:ln>
        </p:spPr>
      </p:pic>
      <p:sp>
        <p:nvSpPr>
          <p:cNvPr id="127" name="Google Shape;127;g3aba9ccdbbc_0_47"/>
          <p:cNvSpPr txBox="1"/>
          <p:nvPr/>
        </p:nvSpPr>
        <p:spPr>
          <a:xfrm>
            <a:off x="4962025" y="2673650"/>
            <a:ext cx="36000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Open Sans"/>
              <a:buChar char="●"/>
            </a:pPr>
            <a:r>
              <a:rPr lang="en" sz="1800">
                <a:solidFill>
                  <a:schemeClr val="dk2"/>
                </a:solidFill>
                <a:latin typeface="Open Sans"/>
                <a:ea typeface="Open Sans"/>
                <a:cs typeface="Open Sans"/>
                <a:sym typeface="Open Sans"/>
              </a:rPr>
              <a:t>Examples of running the ITVFs to:</a:t>
            </a:r>
            <a:endParaRPr sz="1800">
              <a:solidFill>
                <a:schemeClr val="dk2"/>
              </a:solidFill>
              <a:latin typeface="Open Sans"/>
              <a:ea typeface="Open Sans"/>
              <a:cs typeface="Open Sans"/>
              <a:sym typeface="Open Sans"/>
            </a:endParaRPr>
          </a:p>
          <a:p>
            <a:pPr indent="-342900" lvl="1" marL="914400" rtl="0" algn="l">
              <a:spcBef>
                <a:spcPts val="0"/>
              </a:spcBef>
              <a:spcAft>
                <a:spcPts val="0"/>
              </a:spcAft>
              <a:buClr>
                <a:schemeClr val="dk2"/>
              </a:buClr>
              <a:buSzPts val="1800"/>
              <a:buFont typeface="Open Sans"/>
              <a:buChar char="○"/>
            </a:pPr>
            <a:r>
              <a:rPr lang="en" sz="1800">
                <a:solidFill>
                  <a:schemeClr val="dk2"/>
                </a:solidFill>
                <a:latin typeface="Open Sans"/>
                <a:ea typeface="Open Sans"/>
                <a:cs typeface="Open Sans"/>
                <a:sym typeface="Open Sans"/>
              </a:rPr>
              <a:t>Find Customers that live in the US</a:t>
            </a:r>
            <a:endParaRPr sz="1800">
              <a:solidFill>
                <a:schemeClr val="dk2"/>
              </a:solidFill>
              <a:latin typeface="Open Sans"/>
              <a:ea typeface="Open Sans"/>
              <a:cs typeface="Open Sans"/>
              <a:sym typeface="Open Sans"/>
            </a:endParaRPr>
          </a:p>
          <a:p>
            <a:pPr indent="-342900" lvl="1" marL="914400" rtl="0" algn="l">
              <a:spcBef>
                <a:spcPts val="0"/>
              </a:spcBef>
              <a:spcAft>
                <a:spcPts val="0"/>
              </a:spcAft>
              <a:buClr>
                <a:schemeClr val="dk2"/>
              </a:buClr>
              <a:buSzPts val="1800"/>
              <a:buFont typeface="Open Sans"/>
              <a:buChar char="○"/>
            </a:pPr>
            <a:r>
              <a:rPr lang="en" sz="1800">
                <a:solidFill>
                  <a:schemeClr val="dk2"/>
                </a:solidFill>
                <a:latin typeface="Open Sans"/>
                <a:ea typeface="Open Sans"/>
                <a:cs typeface="Open Sans"/>
                <a:sym typeface="Open Sans"/>
              </a:rPr>
              <a:t>Find the staff members working under the Sales department</a:t>
            </a:r>
            <a:endParaRPr sz="1800">
              <a:solidFill>
                <a:schemeClr val="dk2"/>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ab83d07921_0_43"/>
          <p:cNvSpPr txBox="1"/>
          <p:nvPr>
            <p:ph type="title"/>
          </p:nvPr>
        </p:nvSpPr>
        <p:spPr>
          <a:xfrm>
            <a:off x="311700" y="445025"/>
            <a:ext cx="39999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FACED</a:t>
            </a:r>
            <a:endParaRPr/>
          </a:p>
        </p:txBody>
      </p:sp>
      <p:sp>
        <p:nvSpPr>
          <p:cNvPr id="133" name="Google Shape;133;g3ab83d07921_0_43"/>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Char char="●"/>
            </a:pPr>
            <a:r>
              <a:rPr lang="en" sz="1700">
                <a:solidFill>
                  <a:srgbClr val="000000"/>
                </a:solidFill>
              </a:rPr>
              <a:t>Had a hard time figuring out how to start with ITVFs and ideas of useful ones.</a:t>
            </a:r>
            <a:endParaRPr sz="1700">
              <a:solidFill>
                <a:srgbClr val="000000"/>
              </a:solidFill>
            </a:endParaRPr>
          </a:p>
          <a:p>
            <a:pPr indent="-336550" lvl="0" marL="457200" rtl="0" algn="l">
              <a:spcBef>
                <a:spcPts val="0"/>
              </a:spcBef>
              <a:spcAft>
                <a:spcPts val="0"/>
              </a:spcAft>
              <a:buClr>
                <a:srgbClr val="000000"/>
              </a:buClr>
              <a:buSzPts val="1700"/>
              <a:buChar char="●"/>
            </a:pPr>
            <a:r>
              <a:rPr lang="en" sz="1700">
                <a:solidFill>
                  <a:srgbClr val="000000"/>
                </a:solidFill>
              </a:rPr>
              <a:t>Then I had errors trying to create and calling them.</a:t>
            </a:r>
            <a:endParaRPr sz="1700">
              <a:solidFill>
                <a:srgbClr val="000000"/>
              </a:solidFill>
            </a:endParaRPr>
          </a:p>
        </p:txBody>
      </p:sp>
      <p:sp>
        <p:nvSpPr>
          <p:cNvPr id="134" name="Google Shape;134;g3ab83d07921_0_43"/>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u="sng">
                <a:solidFill>
                  <a:schemeClr val="hlink"/>
                </a:solidFill>
                <a:hlinkClick r:id="rId3"/>
              </a:rPr>
              <a:t>https://sabihullahsaleh.medium.com/table-valued-functions-tvfs-in-sql-8706a3c0288b</a:t>
            </a:r>
            <a:endParaRPr/>
          </a:p>
          <a:p>
            <a:pPr indent="-317500" lvl="0" marL="457200" rtl="0" algn="l">
              <a:spcBef>
                <a:spcPts val="0"/>
              </a:spcBef>
              <a:spcAft>
                <a:spcPts val="0"/>
              </a:spcAft>
              <a:buClr>
                <a:srgbClr val="000000"/>
              </a:buClr>
              <a:buSzPts val="1400"/>
              <a:buChar char="●"/>
            </a:pPr>
            <a:r>
              <a:rPr lang="en">
                <a:solidFill>
                  <a:srgbClr val="000000"/>
                </a:solidFill>
              </a:rPr>
              <a:t>I found this medium article which explained things very well and helped me get started into making my own.</a:t>
            </a:r>
            <a:endParaRPr>
              <a:solidFill>
                <a:srgbClr val="000000"/>
              </a:solidFill>
            </a:endParaRPr>
          </a:p>
        </p:txBody>
      </p:sp>
      <p:sp>
        <p:nvSpPr>
          <p:cNvPr id="135" name="Google Shape;135;g3ab83d07921_0_43"/>
          <p:cNvSpPr txBox="1"/>
          <p:nvPr>
            <p:ph type="title"/>
          </p:nvPr>
        </p:nvSpPr>
        <p:spPr>
          <a:xfrm>
            <a:off x="4683200" y="445025"/>
            <a:ext cx="47511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THEY WERE OVERCOME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ab83d07921_0_13"/>
          <p:cNvSpPr txBox="1"/>
          <p:nvPr>
            <p:ph type="title"/>
          </p:nvPr>
        </p:nvSpPr>
        <p:spPr>
          <a:xfrm>
            <a:off x="286350" y="25035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BRYAN</a:t>
            </a:r>
            <a:endParaRPr/>
          </a:p>
        </p:txBody>
      </p:sp>
      <p:sp>
        <p:nvSpPr>
          <p:cNvPr id="141" name="Google Shape;141;g3ab83d07921_0_13"/>
          <p:cNvSpPr txBox="1"/>
          <p:nvPr>
            <p:ph type="title"/>
          </p:nvPr>
        </p:nvSpPr>
        <p:spPr>
          <a:xfrm>
            <a:off x="2406450" y="1275100"/>
            <a:ext cx="43311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800"/>
              <a:t>Production Information</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ab83d07921_0_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Schema</a:t>
            </a:r>
            <a:endParaRPr/>
          </a:p>
        </p:txBody>
      </p:sp>
      <p:sp>
        <p:nvSpPr>
          <p:cNvPr id="147" name="Google Shape;147;g3ab83d07921_0_22"/>
          <p:cNvSpPr txBox="1"/>
          <p:nvPr>
            <p:ph idx="1" type="body"/>
          </p:nvPr>
        </p:nvSpPr>
        <p:spPr>
          <a:xfrm>
            <a:off x="311700" y="1092000"/>
            <a:ext cx="2600700" cy="315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 PrestigeCars_Project3</a:t>
            </a:r>
            <a:endParaRPr/>
          </a:p>
          <a:p>
            <a:pPr indent="0" lvl="0" marL="0" rtl="0" algn="l">
              <a:spcBef>
                <a:spcPts val="0"/>
              </a:spcBef>
              <a:spcAft>
                <a:spcPts val="0"/>
              </a:spcAft>
              <a:buNone/>
            </a:pPr>
            <a:r>
              <a:rPr lang="en"/>
              <a:t>Go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CREATE SCHEMA Udt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CREATE SCHEMA ProductInformation</a:t>
            </a:r>
            <a:endParaRPr/>
          </a:p>
          <a:p>
            <a:pPr indent="0" lvl="0" marL="0" rtl="0" algn="l">
              <a:spcBef>
                <a:spcPts val="0"/>
              </a:spcBef>
              <a:spcAft>
                <a:spcPts val="0"/>
              </a:spcAft>
              <a:buNone/>
            </a:pPr>
            <a:r>
              <a:t/>
            </a:r>
            <a:endParaRPr/>
          </a:p>
        </p:txBody>
      </p:sp>
      <p:pic>
        <p:nvPicPr>
          <p:cNvPr id="148" name="Google Shape;148;g3ab83d07921_0_22" title="image_2025-11-29_234617082.png"/>
          <p:cNvPicPr preferRelativeResize="0"/>
          <p:nvPr/>
        </p:nvPicPr>
        <p:blipFill>
          <a:blip r:embed="rId3">
            <a:alphaModFix/>
          </a:blip>
          <a:stretch>
            <a:fillRect/>
          </a:stretch>
        </p:blipFill>
        <p:spPr>
          <a:xfrm>
            <a:off x="3305150" y="1227125"/>
            <a:ext cx="3162125" cy="2689250"/>
          </a:xfrm>
          <a:prstGeom prst="rect">
            <a:avLst/>
          </a:prstGeom>
          <a:noFill/>
          <a:ln>
            <a:noFill/>
          </a:ln>
        </p:spPr>
      </p:pic>
      <p:sp>
        <p:nvSpPr>
          <p:cNvPr id="149" name="Google Shape;149;g3ab83d07921_0_22"/>
          <p:cNvSpPr txBox="1"/>
          <p:nvPr/>
        </p:nvSpPr>
        <p:spPr>
          <a:xfrm>
            <a:off x="6829800" y="1272900"/>
            <a:ext cx="2124900" cy="27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Open Sans"/>
                <a:ea typeface="Open Sans"/>
                <a:cs typeface="Open Sans"/>
                <a:sym typeface="Open Sans"/>
              </a:rPr>
              <a:t>Product Information is created to encase all the tables that relate to the product</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000">
              <a:solidFill>
                <a:schemeClr val="dk2"/>
              </a:solidFill>
              <a:latin typeface="Open Sans"/>
              <a:ea typeface="Open Sans"/>
              <a:cs typeface="Open Sans"/>
              <a:sym typeface="Open Sans"/>
            </a:endParaRPr>
          </a:p>
          <a:p>
            <a:pPr indent="-292100" lvl="0" marL="457200" rtl="0" algn="l">
              <a:spcBef>
                <a:spcPts val="0"/>
              </a:spcBef>
              <a:spcAft>
                <a:spcPts val="0"/>
              </a:spcAft>
              <a:buClr>
                <a:schemeClr val="dk2"/>
              </a:buClr>
              <a:buSzPts val="1000"/>
              <a:buFont typeface="Open Sans"/>
              <a:buChar char="-"/>
            </a:pPr>
            <a:r>
              <a:rPr lang="en" sz="1000">
                <a:solidFill>
                  <a:schemeClr val="dk2"/>
                </a:solidFill>
                <a:latin typeface="Open Sans"/>
                <a:ea typeface="Open Sans"/>
                <a:cs typeface="Open Sans"/>
                <a:sym typeface="Open Sans"/>
              </a:rPr>
              <a:t>Udt is the schema created to differentiate the user data types. This way we are able to see everything we created in one spot </a:t>
            </a:r>
            <a:endParaRPr sz="1000">
              <a:solidFill>
                <a:schemeClr val="dk2"/>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abb0103071_2_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Tables</a:t>
            </a:r>
            <a:endParaRPr/>
          </a:p>
        </p:txBody>
      </p:sp>
      <p:pic>
        <p:nvPicPr>
          <p:cNvPr id="155" name="Google Shape;155;g3abb0103071_2_14" title="image_2025-11-30_213610809.png"/>
          <p:cNvPicPr preferRelativeResize="0"/>
          <p:nvPr/>
        </p:nvPicPr>
        <p:blipFill>
          <a:blip r:embed="rId3">
            <a:alphaModFix/>
          </a:blip>
          <a:stretch>
            <a:fillRect/>
          </a:stretch>
        </p:blipFill>
        <p:spPr>
          <a:xfrm>
            <a:off x="152400" y="1304825"/>
            <a:ext cx="4770950" cy="3589225"/>
          </a:xfrm>
          <a:prstGeom prst="rect">
            <a:avLst/>
          </a:prstGeom>
          <a:noFill/>
          <a:ln>
            <a:noFill/>
          </a:ln>
        </p:spPr>
      </p:pic>
      <p:sp>
        <p:nvSpPr>
          <p:cNvPr id="156" name="Google Shape;156;g3abb0103071_2_14"/>
          <p:cNvSpPr txBox="1"/>
          <p:nvPr/>
        </p:nvSpPr>
        <p:spPr>
          <a:xfrm>
            <a:off x="5578800" y="1239975"/>
            <a:ext cx="3223500" cy="27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Open Sans"/>
                <a:ea typeface="Open Sans"/>
                <a:cs typeface="Open Sans"/>
                <a:sym typeface="Open Sans"/>
              </a:rPr>
              <a:t>Each table use a Udt and make the table more easier to read and insert data into</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All Id’s are surrogate key and have the ability to create their own unique id number and is a foreign key to </a:t>
            </a:r>
            <a:r>
              <a:rPr lang="en" sz="1200">
                <a:solidFill>
                  <a:schemeClr val="dk2"/>
                </a:solidFill>
                <a:latin typeface="Open Sans"/>
                <a:ea typeface="Open Sans"/>
                <a:cs typeface="Open Sans"/>
                <a:sym typeface="Open Sans"/>
              </a:rPr>
              <a:t>multiple</a:t>
            </a:r>
            <a:r>
              <a:rPr lang="en" sz="1200">
                <a:solidFill>
                  <a:schemeClr val="dk2"/>
                </a:solidFill>
                <a:latin typeface="Open Sans"/>
                <a:ea typeface="Open Sans"/>
                <a:cs typeface="Open Sans"/>
                <a:sym typeface="Open Sans"/>
              </a:rPr>
              <a:t> tables to be able to reference each of them</a:t>
            </a:r>
            <a:endParaRPr sz="1200">
              <a:solidFill>
                <a:schemeClr val="dk2"/>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ab896f40d5_0_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Udt’s Created</a:t>
            </a:r>
            <a:endParaRPr/>
          </a:p>
        </p:txBody>
      </p:sp>
      <p:sp>
        <p:nvSpPr>
          <p:cNvPr id="162" name="Google Shape;162;g3ab896f40d5_0_1"/>
          <p:cNvSpPr txBox="1"/>
          <p:nvPr/>
        </p:nvSpPr>
        <p:spPr>
          <a:xfrm>
            <a:off x="4373925" y="1266325"/>
            <a:ext cx="4591200" cy="31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Open Sans"/>
                <a:ea typeface="Open Sans"/>
                <a:cs typeface="Open Sans"/>
                <a:sym typeface="Open Sans"/>
              </a:rPr>
              <a:t>All Udt’s were created to be able to match the customization of each data type of the new normalized tables</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Each of the data types are now required to match the actual data.</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For example, VIN was turned from an INT data type to Udt.Vin that is now specific to Vin numbers and required to have the 17 characters.</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Udt SurrogateKey Int is a Udt that is used in various tables for product information. This allows for the same data type to be concrete for the information of rows</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p:txBody>
      </p:sp>
      <p:pic>
        <p:nvPicPr>
          <p:cNvPr id="163" name="Google Shape;163;g3ab896f40d5_0_1" title="image_2025-11-30_093514190.png"/>
          <p:cNvPicPr preferRelativeResize="0"/>
          <p:nvPr/>
        </p:nvPicPr>
        <p:blipFill>
          <a:blip r:embed="rId3">
            <a:alphaModFix/>
          </a:blip>
          <a:stretch>
            <a:fillRect/>
          </a:stretch>
        </p:blipFill>
        <p:spPr>
          <a:xfrm>
            <a:off x="152400" y="1304825"/>
            <a:ext cx="4026550" cy="2581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ab98cf63e9_0_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ITVF’s</a:t>
            </a:r>
            <a:endParaRPr/>
          </a:p>
        </p:txBody>
      </p:sp>
      <p:pic>
        <p:nvPicPr>
          <p:cNvPr id="169" name="Google Shape;169;g3ab98cf63e9_0_3" title="image_2025-11-30_093955990.png"/>
          <p:cNvPicPr preferRelativeResize="0"/>
          <p:nvPr/>
        </p:nvPicPr>
        <p:blipFill>
          <a:blip r:embed="rId3">
            <a:alphaModFix/>
          </a:blip>
          <a:stretch>
            <a:fillRect/>
          </a:stretch>
        </p:blipFill>
        <p:spPr>
          <a:xfrm>
            <a:off x="311700" y="1046925"/>
            <a:ext cx="4523825" cy="1715525"/>
          </a:xfrm>
          <a:prstGeom prst="rect">
            <a:avLst/>
          </a:prstGeom>
          <a:noFill/>
          <a:ln>
            <a:noFill/>
          </a:ln>
        </p:spPr>
      </p:pic>
      <p:sp>
        <p:nvSpPr>
          <p:cNvPr id="170" name="Google Shape;170;g3ab98cf63e9_0_3"/>
          <p:cNvSpPr txBox="1"/>
          <p:nvPr/>
        </p:nvSpPr>
        <p:spPr>
          <a:xfrm>
            <a:off x="257975" y="2787925"/>
            <a:ext cx="3913200" cy="21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Open Sans"/>
                <a:ea typeface="Open Sans"/>
                <a:cs typeface="Open Sans"/>
                <a:sym typeface="Open Sans"/>
              </a:rPr>
              <a:t>Inline Table </a:t>
            </a:r>
            <a:r>
              <a:rPr lang="en" sz="1200">
                <a:solidFill>
                  <a:schemeClr val="dk2"/>
                </a:solidFill>
                <a:latin typeface="Open Sans"/>
                <a:ea typeface="Open Sans"/>
                <a:cs typeface="Open Sans"/>
                <a:sym typeface="Open Sans"/>
              </a:rPr>
              <a:t>Valued</a:t>
            </a:r>
            <a:r>
              <a:rPr lang="en" sz="1200">
                <a:solidFill>
                  <a:schemeClr val="dk2"/>
                </a:solidFill>
                <a:latin typeface="Open Sans"/>
                <a:ea typeface="Open Sans"/>
                <a:cs typeface="Open Sans"/>
                <a:sym typeface="Open Sans"/>
              </a:rPr>
              <a:t> functions are able to bring information quickly for various inputs:</a:t>
            </a:r>
            <a:br>
              <a:rPr lang="en" sz="1200">
                <a:solidFill>
                  <a:schemeClr val="dk2"/>
                </a:solidFill>
                <a:latin typeface="Open Sans"/>
                <a:ea typeface="Open Sans"/>
                <a:cs typeface="Open Sans"/>
                <a:sym typeface="Open Sans"/>
              </a:rPr>
            </a:br>
            <a:br>
              <a:rPr lang="en" sz="1200">
                <a:solidFill>
                  <a:schemeClr val="dk2"/>
                </a:solidFill>
                <a:latin typeface="Open Sans"/>
                <a:ea typeface="Open Sans"/>
                <a:cs typeface="Open Sans"/>
                <a:sym typeface="Open Sans"/>
              </a:rPr>
            </a:br>
            <a:r>
              <a:rPr lang="en" sz="1200">
                <a:solidFill>
                  <a:schemeClr val="dk2"/>
                </a:solidFill>
                <a:latin typeface="Open Sans"/>
                <a:ea typeface="Open Sans"/>
                <a:cs typeface="Open Sans"/>
                <a:sym typeface="Open Sans"/>
              </a:rPr>
              <a:t>The ITVF’s here are used to analyze data without needing to re write the </a:t>
            </a:r>
            <a:r>
              <a:rPr lang="en" sz="1200">
                <a:solidFill>
                  <a:schemeClr val="dk2"/>
                </a:solidFill>
                <a:latin typeface="Open Sans"/>
                <a:ea typeface="Open Sans"/>
                <a:cs typeface="Open Sans"/>
                <a:sym typeface="Open Sans"/>
              </a:rPr>
              <a:t>queries.</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This is able to bring the top 5 vehicles that match the inputted year and above. This shows the most expensive repair costs to least expensive</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p:txBody>
      </p:sp>
      <p:sp>
        <p:nvSpPr>
          <p:cNvPr id="171" name="Google Shape;171;g3ab98cf63e9_0_3"/>
          <p:cNvSpPr txBox="1"/>
          <p:nvPr/>
        </p:nvSpPr>
        <p:spPr>
          <a:xfrm>
            <a:off x="5120125" y="788675"/>
            <a:ext cx="3502800" cy="21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Open Sans"/>
                <a:ea typeface="Open Sans"/>
                <a:cs typeface="Open Sans"/>
                <a:sym typeface="Open Sans"/>
              </a:rPr>
              <a:t>CREATE FUNCTION ProductInformation.FindingHighestRepairCostEnginePerModelYear(@ModelYearCar Udt.YearInt)</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rPr lang="en" sz="1000">
                <a:solidFill>
                  <a:schemeClr val="dk2"/>
                </a:solidFill>
                <a:latin typeface="Open Sans"/>
                <a:ea typeface="Open Sans"/>
                <a:cs typeface="Open Sans"/>
                <a:sym typeface="Open Sans"/>
              </a:rPr>
              <a:t>Returns Table</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rPr lang="en" sz="1000">
                <a:solidFill>
                  <a:schemeClr val="dk2"/>
                </a:solidFill>
                <a:latin typeface="Open Sans"/>
                <a:ea typeface="Open Sans"/>
                <a:cs typeface="Open Sans"/>
                <a:sym typeface="Open Sans"/>
              </a:rPr>
              <a:t>AS</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rPr lang="en" sz="1000">
                <a:solidFill>
                  <a:schemeClr val="dk2"/>
                </a:solidFill>
                <a:latin typeface="Open Sans"/>
                <a:ea typeface="Open Sans"/>
                <a:cs typeface="Open Sans"/>
                <a:sym typeface="Open Sans"/>
              </a:rPr>
              <a:t>Return</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rPr lang="en" sz="1000">
                <a:solidFill>
                  <a:schemeClr val="dk2"/>
                </a:solidFill>
                <a:latin typeface="Open Sans"/>
                <a:ea typeface="Open Sans"/>
                <a:cs typeface="Open Sans"/>
                <a:sym typeface="Open Sans"/>
              </a:rPr>
              <a:t>(</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rPr lang="en" sz="1000">
                <a:solidFill>
                  <a:schemeClr val="dk2"/>
                </a:solidFill>
                <a:latin typeface="Open Sans"/>
                <a:ea typeface="Open Sans"/>
                <a:cs typeface="Open Sans"/>
                <a:sym typeface="Open Sans"/>
              </a:rPr>
              <a:t>	Select TOP 5 VehicleId,Engine, RepairsCost</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rPr lang="en" sz="1000">
                <a:solidFill>
                  <a:schemeClr val="dk2"/>
                </a:solidFill>
                <a:latin typeface="Open Sans"/>
                <a:ea typeface="Open Sans"/>
                <a:cs typeface="Open Sans"/>
                <a:sym typeface="Open Sans"/>
              </a:rPr>
              <a:t>	From ProductInformation.Vehicle</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rPr lang="en" sz="1000">
                <a:solidFill>
                  <a:schemeClr val="dk2"/>
                </a:solidFill>
                <a:latin typeface="Open Sans"/>
                <a:ea typeface="Open Sans"/>
                <a:cs typeface="Open Sans"/>
                <a:sym typeface="Open Sans"/>
              </a:rPr>
              <a:t>	Where ModelYear &gt;= @ModelYearCar</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rPr lang="en" sz="1000">
                <a:solidFill>
                  <a:schemeClr val="dk2"/>
                </a:solidFill>
                <a:latin typeface="Open Sans"/>
                <a:ea typeface="Open Sans"/>
                <a:cs typeface="Open Sans"/>
                <a:sym typeface="Open Sans"/>
              </a:rPr>
              <a:t>	Order By RepairsCost Desc</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rPr lang="en" sz="1000">
                <a:solidFill>
                  <a:schemeClr val="dk2"/>
                </a:solidFill>
                <a:latin typeface="Open Sans"/>
                <a:ea typeface="Open Sans"/>
                <a:cs typeface="Open Sans"/>
                <a:sym typeface="Open Sans"/>
              </a:rPr>
              <a:t>	)</a:t>
            </a:r>
            <a:endParaRPr sz="10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000">
              <a:solidFill>
                <a:schemeClr val="dk2"/>
              </a:solidFill>
              <a:latin typeface="Open Sans"/>
              <a:ea typeface="Open Sans"/>
              <a:cs typeface="Open Sans"/>
              <a:sym typeface="Open Sans"/>
            </a:endParaRPr>
          </a:p>
        </p:txBody>
      </p:sp>
      <p:pic>
        <p:nvPicPr>
          <p:cNvPr id="172" name="Google Shape;172;g3ab98cf63e9_0_3" title="Screenshot 2025-11-30 212630.png"/>
          <p:cNvPicPr preferRelativeResize="0"/>
          <p:nvPr/>
        </p:nvPicPr>
        <p:blipFill>
          <a:blip r:embed="rId4">
            <a:alphaModFix/>
          </a:blip>
          <a:stretch>
            <a:fillRect/>
          </a:stretch>
        </p:blipFill>
        <p:spPr>
          <a:xfrm>
            <a:off x="5039963" y="2905450"/>
            <a:ext cx="3663125" cy="188174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abb0103071_2_6"/>
          <p:cNvSpPr txBox="1"/>
          <p:nvPr>
            <p:ph idx="1" type="body"/>
          </p:nvPr>
        </p:nvSpPr>
        <p:spPr>
          <a:xfrm>
            <a:off x="150550" y="95125"/>
            <a:ext cx="3472800" cy="46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CREATE FUNCTION ProductInformation.VehicleInventoryYear(@Year Udt.YearInt)</a:t>
            </a:r>
            <a:endParaRPr sz="1000"/>
          </a:p>
          <a:p>
            <a:pPr indent="0" lvl="0" marL="0" rtl="0" algn="l">
              <a:spcBef>
                <a:spcPts val="0"/>
              </a:spcBef>
              <a:spcAft>
                <a:spcPts val="0"/>
              </a:spcAft>
              <a:buNone/>
            </a:pPr>
            <a:r>
              <a:rPr lang="en" sz="1000"/>
              <a:t>Returns Table</a:t>
            </a:r>
            <a:endParaRPr sz="1000"/>
          </a:p>
          <a:p>
            <a:pPr indent="0" lvl="0" marL="0" rtl="0" algn="l">
              <a:spcBef>
                <a:spcPts val="0"/>
              </a:spcBef>
              <a:spcAft>
                <a:spcPts val="0"/>
              </a:spcAft>
              <a:buNone/>
            </a:pPr>
            <a:r>
              <a:rPr lang="en" sz="1000"/>
              <a:t>AS</a:t>
            </a:r>
            <a:endParaRPr sz="1000"/>
          </a:p>
          <a:p>
            <a:pPr indent="0" lvl="0" marL="0" rtl="0" algn="l">
              <a:spcBef>
                <a:spcPts val="0"/>
              </a:spcBef>
              <a:spcAft>
                <a:spcPts val="0"/>
              </a:spcAft>
              <a:buNone/>
            </a:pPr>
            <a:r>
              <a:rPr lang="en" sz="1000"/>
              <a:t>Return</a:t>
            </a:r>
            <a:endParaRPr sz="1000"/>
          </a:p>
          <a:p>
            <a:pPr indent="0" lvl="0" marL="0" rtl="0" algn="l">
              <a:spcBef>
                <a:spcPts val="0"/>
              </a:spcBef>
              <a:spcAft>
                <a:spcPts val="0"/>
              </a:spcAft>
              <a:buNone/>
            </a:pPr>
            <a:r>
              <a:rPr lang="en" sz="1000"/>
              <a:t>(</a:t>
            </a:r>
            <a:endParaRPr sz="1000"/>
          </a:p>
          <a:p>
            <a:pPr indent="0" lvl="0" marL="0" rtl="0" algn="l">
              <a:spcBef>
                <a:spcPts val="0"/>
              </a:spcBef>
              <a:spcAft>
                <a:spcPts val="0"/>
              </a:spcAft>
              <a:buNone/>
            </a:pPr>
            <a:r>
              <a:rPr lang="en" sz="1000"/>
              <a:t>	Select</a:t>
            </a:r>
            <a:endParaRPr sz="1000"/>
          </a:p>
          <a:p>
            <a:pPr indent="0" lvl="0" marL="0" rtl="0" algn="l">
              <a:spcBef>
                <a:spcPts val="0"/>
              </a:spcBef>
              <a:spcAft>
                <a:spcPts val="0"/>
              </a:spcAft>
              <a:buNone/>
            </a:pPr>
            <a:r>
              <a:rPr lang="en" sz="1000"/>
              <a:t>	V.vin,</a:t>
            </a:r>
            <a:endParaRPr sz="1000"/>
          </a:p>
          <a:p>
            <a:pPr indent="0" lvl="0" marL="0" rtl="0" algn="l">
              <a:spcBef>
                <a:spcPts val="0"/>
              </a:spcBef>
              <a:spcAft>
                <a:spcPts val="0"/>
              </a:spcAft>
              <a:buNone/>
            </a:pPr>
            <a:r>
              <a:rPr lang="en" sz="1000"/>
              <a:t>	MA.MakeName,</a:t>
            </a:r>
            <a:endParaRPr sz="1000"/>
          </a:p>
          <a:p>
            <a:pPr indent="0" lvl="0" marL="0" rtl="0" algn="l">
              <a:spcBef>
                <a:spcPts val="0"/>
              </a:spcBef>
              <a:spcAft>
                <a:spcPts val="0"/>
              </a:spcAft>
              <a:buNone/>
            </a:pPr>
            <a:r>
              <a:rPr lang="en" sz="1000"/>
              <a:t>	MO.ModelName,</a:t>
            </a:r>
            <a:endParaRPr sz="1000"/>
          </a:p>
          <a:p>
            <a:pPr indent="0" lvl="0" marL="0" rtl="0" algn="l">
              <a:spcBef>
                <a:spcPts val="0"/>
              </a:spcBef>
              <a:spcAft>
                <a:spcPts val="0"/>
              </a:spcAft>
              <a:buNone/>
            </a:pPr>
            <a:r>
              <a:rPr lang="en" sz="1000"/>
              <a:t>	V.ModelYear,</a:t>
            </a:r>
            <a:endParaRPr sz="1000"/>
          </a:p>
          <a:p>
            <a:pPr indent="0" lvl="0" marL="0" rtl="0" algn="l">
              <a:spcBef>
                <a:spcPts val="0"/>
              </a:spcBef>
              <a:spcAft>
                <a:spcPts val="0"/>
              </a:spcAft>
              <a:buNone/>
            </a:pPr>
            <a:r>
              <a:rPr lang="en" sz="1000"/>
              <a:t>	V.ExteriorColor,</a:t>
            </a:r>
            <a:endParaRPr sz="1000"/>
          </a:p>
          <a:p>
            <a:pPr indent="0" lvl="0" marL="0" rtl="0" algn="l">
              <a:spcBef>
                <a:spcPts val="0"/>
              </a:spcBef>
              <a:spcAft>
                <a:spcPts val="0"/>
              </a:spcAft>
              <a:buNone/>
            </a:pPr>
            <a:r>
              <a:rPr lang="en" sz="1000"/>
              <a:t>	V.BodyStyle,</a:t>
            </a:r>
            <a:endParaRPr sz="1000"/>
          </a:p>
          <a:p>
            <a:pPr indent="0" lvl="0" marL="0" rtl="0" algn="l">
              <a:spcBef>
                <a:spcPts val="0"/>
              </a:spcBef>
              <a:spcAft>
                <a:spcPts val="0"/>
              </a:spcAft>
              <a:buNone/>
            </a:pPr>
            <a:r>
              <a:rPr lang="en" sz="1000"/>
              <a:t>	V.Transmission,</a:t>
            </a:r>
            <a:endParaRPr sz="1000"/>
          </a:p>
          <a:p>
            <a:pPr indent="0" lvl="0" marL="0" rtl="0" algn="l">
              <a:spcBef>
                <a:spcPts val="0"/>
              </a:spcBef>
              <a:spcAft>
                <a:spcPts val="0"/>
              </a:spcAft>
              <a:buNone/>
            </a:pPr>
            <a:r>
              <a:rPr lang="en" sz="1000"/>
              <a:t>	(V.Cost + V.PartsCost + V.</a:t>
            </a:r>
            <a:r>
              <a:rPr lang="en" sz="1000"/>
              <a:t>Transporting Cost</a:t>
            </a:r>
            <a:r>
              <a:rPr lang="en" sz="1000"/>
              <a:t> + V.</a:t>
            </a:r>
            <a:r>
              <a:rPr lang="en" sz="1000"/>
              <a:t>RepairsCost</a:t>
            </a:r>
            <a:r>
              <a:rPr lang="en" sz="1000"/>
              <a:t>) AS TotalEstimatedCost</a:t>
            </a:r>
            <a:endParaRPr sz="1000"/>
          </a:p>
          <a:p>
            <a:pPr indent="0" lvl="0" marL="0" rtl="0" algn="l">
              <a:spcBef>
                <a:spcPts val="0"/>
              </a:spcBef>
              <a:spcAft>
                <a:spcPts val="0"/>
              </a:spcAft>
              <a:buNone/>
            </a:pPr>
            <a:r>
              <a:rPr lang="en" sz="1000"/>
              <a:t>	From</a:t>
            </a:r>
            <a:endParaRPr sz="1000"/>
          </a:p>
          <a:p>
            <a:pPr indent="0" lvl="0" marL="0" rtl="0" algn="l">
              <a:spcBef>
                <a:spcPts val="0"/>
              </a:spcBef>
              <a:spcAft>
                <a:spcPts val="0"/>
              </a:spcAft>
              <a:buNone/>
            </a:pPr>
            <a:r>
              <a:rPr lang="en" sz="1000"/>
              <a:t>		ProductInformation.Vehicle AS V</a:t>
            </a:r>
            <a:endParaRPr sz="1000"/>
          </a:p>
          <a:p>
            <a:pPr indent="0" lvl="0" marL="0" rtl="0" algn="l">
              <a:spcBef>
                <a:spcPts val="0"/>
              </a:spcBef>
              <a:spcAft>
                <a:spcPts val="0"/>
              </a:spcAft>
              <a:buNone/>
            </a:pPr>
            <a:r>
              <a:rPr lang="en" sz="1000"/>
              <a:t>		Inner Join ProductInformation.Model AS MO</a:t>
            </a:r>
            <a:endParaRPr sz="1000"/>
          </a:p>
          <a:p>
            <a:pPr indent="0" lvl="0" marL="0" rtl="0" algn="l">
              <a:spcBef>
                <a:spcPts val="0"/>
              </a:spcBef>
              <a:spcAft>
                <a:spcPts val="0"/>
              </a:spcAft>
              <a:buNone/>
            </a:pPr>
            <a:r>
              <a:rPr lang="en" sz="1000"/>
              <a:t>			ON V.ModelId = MO.ModelId</a:t>
            </a:r>
            <a:endParaRPr sz="1000"/>
          </a:p>
          <a:p>
            <a:pPr indent="0" lvl="0" marL="0" rtl="0" algn="l">
              <a:spcBef>
                <a:spcPts val="0"/>
              </a:spcBef>
              <a:spcAft>
                <a:spcPts val="0"/>
              </a:spcAft>
              <a:buNone/>
            </a:pPr>
            <a:r>
              <a:rPr lang="en" sz="1000"/>
              <a:t>		Inner Join ProductInformation.Make AS MA</a:t>
            </a:r>
            <a:endParaRPr sz="1000"/>
          </a:p>
          <a:p>
            <a:pPr indent="0" lvl="0" marL="0" rtl="0" algn="l">
              <a:spcBef>
                <a:spcPts val="0"/>
              </a:spcBef>
              <a:spcAft>
                <a:spcPts val="0"/>
              </a:spcAft>
              <a:buNone/>
            </a:pPr>
            <a:r>
              <a:rPr lang="en" sz="1000"/>
              <a:t>			ON MO.MakeId = MA.MakeId</a:t>
            </a:r>
            <a:endParaRPr sz="1000"/>
          </a:p>
          <a:p>
            <a:pPr indent="0" lvl="0" marL="0" rtl="0" algn="l">
              <a:spcBef>
                <a:spcPts val="0"/>
              </a:spcBef>
              <a:spcAft>
                <a:spcPts val="0"/>
              </a:spcAft>
              <a:buNone/>
            </a:pPr>
            <a:r>
              <a:rPr lang="en" sz="1000"/>
              <a:t>	Where</a:t>
            </a:r>
            <a:endParaRPr sz="1000"/>
          </a:p>
          <a:p>
            <a:pPr indent="0" lvl="0" marL="0" rtl="0" algn="l">
              <a:spcBef>
                <a:spcPts val="0"/>
              </a:spcBef>
              <a:spcAft>
                <a:spcPts val="0"/>
              </a:spcAft>
              <a:buNone/>
            </a:pPr>
            <a:r>
              <a:rPr lang="en" sz="1000"/>
              <a:t>		V.ModelYear = @Year</a:t>
            </a:r>
            <a:endParaRPr sz="1000"/>
          </a:p>
          <a:p>
            <a:pPr indent="0" lvl="0" marL="0" rtl="0" algn="l">
              <a:spcBef>
                <a:spcPts val="0"/>
              </a:spcBef>
              <a:spcAft>
                <a:spcPts val="0"/>
              </a:spcAft>
              <a:buNone/>
            </a:pPr>
            <a:r>
              <a:rPr lang="en" sz="1000"/>
              <a:t>)</a:t>
            </a:r>
            <a:endParaRPr sz="1000"/>
          </a:p>
          <a:p>
            <a:pPr indent="0" lvl="0" marL="0" rtl="0" algn="l">
              <a:spcBef>
                <a:spcPts val="0"/>
              </a:spcBef>
              <a:spcAft>
                <a:spcPts val="0"/>
              </a:spcAft>
              <a:buNone/>
            </a:pPr>
            <a:r>
              <a:t/>
            </a:r>
            <a:endParaRPr/>
          </a:p>
        </p:txBody>
      </p:sp>
      <p:pic>
        <p:nvPicPr>
          <p:cNvPr id="178" name="Google Shape;178;g3abb0103071_2_6" title="Screenshot 2025-11-30 212706.png"/>
          <p:cNvPicPr preferRelativeResize="0"/>
          <p:nvPr/>
        </p:nvPicPr>
        <p:blipFill>
          <a:blip r:embed="rId3">
            <a:alphaModFix/>
          </a:blip>
          <a:stretch>
            <a:fillRect/>
          </a:stretch>
        </p:blipFill>
        <p:spPr>
          <a:xfrm>
            <a:off x="3709200" y="348150"/>
            <a:ext cx="5189825" cy="916775"/>
          </a:xfrm>
          <a:prstGeom prst="rect">
            <a:avLst/>
          </a:prstGeom>
          <a:noFill/>
          <a:ln>
            <a:noFill/>
          </a:ln>
        </p:spPr>
      </p:pic>
      <p:sp>
        <p:nvSpPr>
          <p:cNvPr id="179" name="Google Shape;179;g3abb0103071_2_6"/>
          <p:cNvSpPr txBox="1"/>
          <p:nvPr/>
        </p:nvSpPr>
        <p:spPr>
          <a:xfrm>
            <a:off x="4525800" y="1992125"/>
            <a:ext cx="3954300" cy="16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Open Sans"/>
                <a:ea typeface="Open Sans"/>
                <a:cs typeface="Open Sans"/>
                <a:sym typeface="Open Sans"/>
              </a:rPr>
              <a:t>This ITVF showcases all the important information that is need when viewing vehicles. The function is using the model year, this way we can view all the cars per year and use it for analysis and reporting to businesses.</a:t>
            </a:r>
            <a:endParaRPr>
              <a:solidFill>
                <a:schemeClr val="dk2"/>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ab83d07921_0_9"/>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DEVAK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aba2b9bdbc_2_0"/>
          <p:cNvSpPr txBox="1"/>
          <p:nvPr>
            <p:ph type="title"/>
          </p:nvPr>
        </p:nvSpPr>
        <p:spPr>
          <a:xfrm>
            <a:off x="363350" y="4243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Schema</a:t>
            </a:r>
            <a:endParaRPr/>
          </a:p>
        </p:txBody>
      </p:sp>
      <p:sp>
        <p:nvSpPr>
          <p:cNvPr id="190" name="Google Shape;190;g3aba2b9bdbc_2_0"/>
          <p:cNvSpPr txBox="1"/>
          <p:nvPr>
            <p:ph idx="1" type="body"/>
          </p:nvPr>
        </p:nvSpPr>
        <p:spPr>
          <a:xfrm>
            <a:off x="149075" y="1266325"/>
            <a:ext cx="30984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solidFill>
                <a:srgbClr val="000000"/>
              </a:solidFill>
              <a:latin typeface="Courier New"/>
              <a:ea typeface="Courier New"/>
              <a:cs typeface="Courier New"/>
              <a:sym typeface="Courier New"/>
            </a:endParaRPr>
          </a:p>
        </p:txBody>
      </p:sp>
      <p:pic>
        <p:nvPicPr>
          <p:cNvPr id="191" name="Google Shape;191;g3aba2b9bdbc_2_0" title="Screenshot 2025-11-30 at 8.48.56 PM.png"/>
          <p:cNvPicPr preferRelativeResize="0"/>
          <p:nvPr/>
        </p:nvPicPr>
        <p:blipFill>
          <a:blip r:embed="rId3">
            <a:alphaModFix/>
          </a:blip>
          <a:stretch>
            <a:fillRect/>
          </a:stretch>
        </p:blipFill>
        <p:spPr>
          <a:xfrm>
            <a:off x="149075" y="1217802"/>
            <a:ext cx="3407826" cy="3302701"/>
          </a:xfrm>
          <a:prstGeom prst="rect">
            <a:avLst/>
          </a:prstGeom>
          <a:noFill/>
          <a:ln>
            <a:noFill/>
          </a:ln>
        </p:spPr>
      </p:pic>
      <p:pic>
        <p:nvPicPr>
          <p:cNvPr id="192" name="Google Shape;192;g3aba2b9bdbc_2_0" title="Screenshot 2025-11-30 at 8.54.10 PM.png"/>
          <p:cNvPicPr preferRelativeResize="0"/>
          <p:nvPr/>
        </p:nvPicPr>
        <p:blipFill>
          <a:blip r:embed="rId4">
            <a:alphaModFix/>
          </a:blip>
          <a:stretch>
            <a:fillRect/>
          </a:stretch>
        </p:blipFill>
        <p:spPr>
          <a:xfrm>
            <a:off x="5058925" y="0"/>
            <a:ext cx="3985901" cy="2747050"/>
          </a:xfrm>
          <a:prstGeom prst="rect">
            <a:avLst/>
          </a:prstGeom>
          <a:noFill/>
          <a:ln>
            <a:noFill/>
          </a:ln>
        </p:spPr>
      </p:pic>
      <p:pic>
        <p:nvPicPr>
          <p:cNvPr id="193" name="Google Shape;193;g3aba2b9bdbc_2_0" title="Screenshot 2025-11-30 at 8.54.51 PM.png"/>
          <p:cNvPicPr preferRelativeResize="0"/>
          <p:nvPr/>
        </p:nvPicPr>
        <p:blipFill>
          <a:blip r:embed="rId5">
            <a:alphaModFix/>
          </a:blip>
          <a:stretch>
            <a:fillRect/>
          </a:stretch>
        </p:blipFill>
        <p:spPr>
          <a:xfrm>
            <a:off x="5733476" y="2653200"/>
            <a:ext cx="2948900" cy="2064225"/>
          </a:xfrm>
          <a:prstGeom prst="rect">
            <a:avLst/>
          </a:prstGeom>
          <a:noFill/>
          <a:ln>
            <a:noFill/>
          </a:ln>
        </p:spPr>
      </p:pic>
      <p:sp>
        <p:nvSpPr>
          <p:cNvPr id="194" name="Google Shape;194;g3aba2b9bdbc_2_0"/>
          <p:cNvSpPr txBox="1"/>
          <p:nvPr/>
        </p:nvSpPr>
        <p:spPr>
          <a:xfrm>
            <a:off x="2772475" y="453075"/>
            <a:ext cx="2613000" cy="3728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Open Sans"/>
              <a:buChar char="●"/>
            </a:pPr>
            <a:r>
              <a:rPr lang="en" sz="1800">
                <a:solidFill>
                  <a:schemeClr val="dk2"/>
                </a:solidFill>
                <a:latin typeface="Open Sans"/>
                <a:ea typeface="Open Sans"/>
                <a:cs typeface="Open Sans"/>
                <a:sym typeface="Open Sans"/>
              </a:rPr>
              <a:t>Sales schema handles all the transactions.</a:t>
            </a:r>
            <a:endParaRPr sz="1800">
              <a:solidFill>
                <a:schemeClr val="dk2"/>
              </a:solidFill>
              <a:latin typeface="Open Sans"/>
              <a:ea typeface="Open Sans"/>
              <a:cs typeface="Open Sans"/>
              <a:sym typeface="Open Sans"/>
            </a:endParaRPr>
          </a:p>
          <a:p>
            <a:pPr indent="-342900" lvl="0" marL="457200" rtl="0" algn="l">
              <a:spcBef>
                <a:spcPts val="0"/>
              </a:spcBef>
              <a:spcAft>
                <a:spcPts val="0"/>
              </a:spcAft>
              <a:buClr>
                <a:schemeClr val="dk2"/>
              </a:buClr>
              <a:buSzPts val="1800"/>
              <a:buFont typeface="Open Sans"/>
              <a:buChar char="●"/>
            </a:pPr>
            <a:r>
              <a:rPr lang="en" sz="1800">
                <a:solidFill>
                  <a:schemeClr val="dk2"/>
                </a:solidFill>
                <a:latin typeface="Open Sans"/>
                <a:ea typeface="Open Sans"/>
                <a:cs typeface="Open Sans"/>
                <a:sym typeface="Open Sans"/>
              </a:rPr>
              <a:t>The ReferenceData has all our look up tables for regions and countries.</a:t>
            </a:r>
            <a:endParaRPr sz="1800">
              <a:solidFill>
                <a:schemeClr val="dk2"/>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ab83d07921_0_2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UDTs</a:t>
            </a:r>
            <a:endParaRPr/>
          </a:p>
        </p:txBody>
      </p:sp>
      <p:sp>
        <p:nvSpPr>
          <p:cNvPr id="200" name="Google Shape;200;g3ab83d07921_0_27"/>
          <p:cNvSpPr txBox="1"/>
          <p:nvPr>
            <p:ph idx="1" type="body"/>
          </p:nvPr>
        </p:nvSpPr>
        <p:spPr>
          <a:xfrm>
            <a:off x="311700" y="1266325"/>
            <a:ext cx="3111600" cy="263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solidFill>
                  <a:srgbClr val="212121"/>
                </a:solidFill>
              </a:rPr>
              <a:t>CREATE TYPE Udt.InvoiceNumber</a:t>
            </a:r>
            <a:endParaRPr>
              <a:solidFill>
                <a:srgbClr val="212121"/>
              </a:solidFill>
            </a:endParaRPr>
          </a:p>
          <a:p>
            <a:pPr indent="0" lvl="0" marL="0" rtl="0" algn="l">
              <a:spcBef>
                <a:spcPts val="0"/>
              </a:spcBef>
              <a:spcAft>
                <a:spcPts val="0"/>
              </a:spcAft>
              <a:buNone/>
            </a:pPr>
            <a:r>
              <a:rPr lang="en">
                <a:solidFill>
                  <a:srgbClr val="212121"/>
                </a:solidFill>
              </a:rPr>
              <a:t>FROM VARCHAR(50) NOT NULL;</a:t>
            </a:r>
            <a:endParaRPr>
              <a:solidFill>
                <a:srgbClr val="212121"/>
              </a:solidFill>
            </a:endParaRPr>
          </a:p>
          <a:p>
            <a:pPr indent="0" lvl="0" marL="0" rtl="0" algn="l">
              <a:spcBef>
                <a:spcPts val="0"/>
              </a:spcBef>
              <a:spcAft>
                <a:spcPts val="0"/>
              </a:spcAft>
              <a:buNone/>
            </a:pPr>
            <a:r>
              <a:t/>
            </a:r>
            <a:endParaRPr>
              <a:solidFill>
                <a:srgbClr val="212121"/>
              </a:solidFill>
            </a:endParaRPr>
          </a:p>
          <a:p>
            <a:pPr indent="0" lvl="0" marL="0" rtl="0" algn="l">
              <a:spcBef>
                <a:spcPts val="0"/>
              </a:spcBef>
              <a:spcAft>
                <a:spcPts val="0"/>
              </a:spcAft>
              <a:buNone/>
            </a:pPr>
            <a:r>
              <a:rPr lang="en">
                <a:solidFill>
                  <a:srgbClr val="212121"/>
                </a:solidFill>
              </a:rPr>
              <a:t>CREATE TYPE Udt.PriceAmount</a:t>
            </a:r>
            <a:endParaRPr>
              <a:solidFill>
                <a:srgbClr val="212121"/>
              </a:solidFill>
            </a:endParaRPr>
          </a:p>
          <a:p>
            <a:pPr indent="0" lvl="0" marL="0" rtl="0" algn="l">
              <a:spcBef>
                <a:spcPts val="0"/>
              </a:spcBef>
              <a:spcAft>
                <a:spcPts val="0"/>
              </a:spcAft>
              <a:buNone/>
            </a:pPr>
            <a:r>
              <a:rPr lang="en">
                <a:solidFill>
                  <a:srgbClr val="212121"/>
                </a:solidFill>
              </a:rPr>
              <a:t>FROM DECIMAL(10,2) NOT NULL;</a:t>
            </a:r>
            <a:endParaRPr>
              <a:solidFill>
                <a:srgbClr val="212121"/>
              </a:solidFill>
            </a:endParaRPr>
          </a:p>
          <a:p>
            <a:pPr indent="0" lvl="0" marL="0" rtl="0" algn="l">
              <a:spcBef>
                <a:spcPts val="0"/>
              </a:spcBef>
              <a:spcAft>
                <a:spcPts val="0"/>
              </a:spcAft>
              <a:buNone/>
            </a:pPr>
            <a:r>
              <a:t/>
            </a:r>
            <a:endParaRPr>
              <a:solidFill>
                <a:srgbClr val="212121"/>
              </a:solidFill>
            </a:endParaRPr>
          </a:p>
          <a:p>
            <a:pPr indent="0" lvl="0" marL="0" rtl="0" algn="l">
              <a:spcBef>
                <a:spcPts val="0"/>
              </a:spcBef>
              <a:spcAft>
                <a:spcPts val="0"/>
              </a:spcAft>
              <a:buNone/>
            </a:pPr>
            <a:r>
              <a:rPr lang="en">
                <a:solidFill>
                  <a:srgbClr val="212121"/>
                </a:solidFill>
              </a:rPr>
              <a:t>CREATE TYPE Udt.PercentValue</a:t>
            </a:r>
            <a:endParaRPr>
              <a:solidFill>
                <a:srgbClr val="212121"/>
              </a:solidFill>
            </a:endParaRPr>
          </a:p>
          <a:p>
            <a:pPr indent="0" lvl="0" marL="0" rtl="0" algn="l">
              <a:spcBef>
                <a:spcPts val="0"/>
              </a:spcBef>
              <a:spcAft>
                <a:spcPts val="0"/>
              </a:spcAft>
              <a:buNone/>
            </a:pPr>
            <a:r>
              <a:rPr lang="en">
                <a:solidFill>
                  <a:srgbClr val="212121"/>
                </a:solidFill>
              </a:rPr>
              <a:t>FROM DECIMAL(5,2) NOT NULL;</a:t>
            </a:r>
            <a:endParaRPr>
              <a:solidFill>
                <a:srgbClr val="212121"/>
              </a:solidFill>
            </a:endParaRPr>
          </a:p>
          <a:p>
            <a:pPr indent="0" lvl="0" marL="0" rtl="0" algn="l">
              <a:spcBef>
                <a:spcPts val="0"/>
              </a:spcBef>
              <a:spcAft>
                <a:spcPts val="0"/>
              </a:spcAft>
              <a:buNone/>
            </a:pPr>
            <a:r>
              <a:t/>
            </a:r>
            <a:endParaRPr>
              <a:solidFill>
                <a:srgbClr val="212121"/>
              </a:solidFill>
            </a:endParaRPr>
          </a:p>
        </p:txBody>
      </p:sp>
      <p:pic>
        <p:nvPicPr>
          <p:cNvPr id="201" name="Google Shape;201;g3ab83d07921_0_27"/>
          <p:cNvPicPr preferRelativeResize="0"/>
          <p:nvPr/>
        </p:nvPicPr>
        <p:blipFill>
          <a:blip r:embed="rId3">
            <a:alphaModFix/>
          </a:blip>
          <a:stretch>
            <a:fillRect/>
          </a:stretch>
        </p:blipFill>
        <p:spPr>
          <a:xfrm>
            <a:off x="3660775" y="741388"/>
            <a:ext cx="2217173" cy="3686276"/>
          </a:xfrm>
          <a:prstGeom prst="rect">
            <a:avLst/>
          </a:prstGeom>
          <a:noFill/>
          <a:ln>
            <a:noFill/>
          </a:ln>
        </p:spPr>
      </p:pic>
      <p:sp>
        <p:nvSpPr>
          <p:cNvPr id="202" name="Google Shape;202;g3ab83d07921_0_27"/>
          <p:cNvSpPr txBox="1"/>
          <p:nvPr/>
        </p:nvSpPr>
        <p:spPr>
          <a:xfrm>
            <a:off x="6036200" y="422075"/>
            <a:ext cx="2861100" cy="4182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Open Sans"/>
              <a:buChar char="●"/>
            </a:pPr>
            <a:r>
              <a:rPr lang="en" sz="1800">
                <a:solidFill>
                  <a:schemeClr val="dk2"/>
                </a:solidFill>
                <a:latin typeface="Open Sans"/>
                <a:ea typeface="Open Sans"/>
                <a:cs typeface="Open Sans"/>
                <a:sym typeface="Open Sans"/>
              </a:rPr>
              <a:t>Sales data is very important so it is crucial that it stays consistent which is why we defined these UDTs.</a:t>
            </a:r>
            <a:endParaRPr sz="1800">
              <a:solidFill>
                <a:schemeClr val="dk2"/>
              </a:solidFill>
              <a:latin typeface="Open Sans"/>
              <a:ea typeface="Open Sans"/>
              <a:cs typeface="Open Sans"/>
              <a:sym typeface="Open Sans"/>
            </a:endParaRPr>
          </a:p>
          <a:p>
            <a:pPr indent="-342900" lvl="0" marL="457200" rtl="0" algn="l">
              <a:spcBef>
                <a:spcPts val="0"/>
              </a:spcBef>
              <a:spcAft>
                <a:spcPts val="0"/>
              </a:spcAft>
              <a:buClr>
                <a:schemeClr val="dk2"/>
              </a:buClr>
              <a:buSzPts val="1800"/>
              <a:buFont typeface="Open Sans"/>
              <a:buChar char="●"/>
            </a:pPr>
            <a:r>
              <a:rPr lang="en" sz="1800">
                <a:solidFill>
                  <a:schemeClr val="dk2"/>
                </a:solidFill>
                <a:latin typeface="Open Sans"/>
                <a:ea typeface="Open Sans"/>
                <a:cs typeface="Open Sans"/>
                <a:sym typeface="Open Sans"/>
              </a:rPr>
              <a:t>Makes it easier for all fields to follow the same rules.</a:t>
            </a:r>
            <a:endParaRPr sz="1800">
              <a:solidFill>
                <a:schemeClr val="dk2"/>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abb0103071_1_0"/>
          <p:cNvSpPr txBox="1"/>
          <p:nvPr>
            <p:ph type="title"/>
          </p:nvPr>
        </p:nvSpPr>
        <p:spPr>
          <a:xfrm>
            <a:off x="84475"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Tables - Sales Schema</a:t>
            </a:r>
            <a:endParaRPr/>
          </a:p>
        </p:txBody>
      </p:sp>
      <p:sp>
        <p:nvSpPr>
          <p:cNvPr id="208" name="Google Shape;208;g3abb0103071_1_0"/>
          <p:cNvSpPr txBox="1"/>
          <p:nvPr>
            <p:ph idx="1" type="body"/>
          </p:nvPr>
        </p:nvSpPr>
        <p:spPr>
          <a:xfrm>
            <a:off x="5650500" y="0"/>
            <a:ext cx="3493500" cy="33027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
                <a:solidFill>
                  <a:srgbClr val="000000"/>
                </a:solidFill>
              </a:rPr>
              <a:t>USE [PrestigeCars_Project3];</a:t>
            </a:r>
            <a:endParaRPr>
              <a:solidFill>
                <a:srgbClr val="000000"/>
              </a:solidFill>
            </a:endParaRPr>
          </a:p>
          <a:p>
            <a:pPr indent="0" lvl="0" marL="0" rtl="0" algn="l">
              <a:spcBef>
                <a:spcPts val="0"/>
              </a:spcBef>
              <a:spcAft>
                <a:spcPts val="0"/>
              </a:spcAft>
              <a:buNone/>
            </a:pPr>
            <a:r>
              <a:rPr lang="en">
                <a:solidFill>
                  <a:srgbClr val="000000"/>
                </a:solidFill>
              </a:rPr>
              <a:t>GO</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rPr lang="en">
                <a:solidFill>
                  <a:srgbClr val="000000"/>
                </a:solidFill>
              </a:rPr>
              <a:t>CREATE TABLE Sales.SalesOrderDetail(</a:t>
            </a:r>
            <a:endParaRPr>
              <a:solidFill>
                <a:srgbClr val="000000"/>
              </a:solidFill>
            </a:endParaRPr>
          </a:p>
          <a:p>
            <a:pPr indent="0" lvl="0" marL="0" rtl="0" algn="l">
              <a:spcBef>
                <a:spcPts val="0"/>
              </a:spcBef>
              <a:spcAft>
                <a:spcPts val="0"/>
              </a:spcAft>
              <a:buNone/>
            </a:pPr>
            <a:r>
              <a:rPr lang="en">
                <a:solidFill>
                  <a:srgbClr val="000000"/>
                </a:solidFill>
              </a:rPr>
              <a:t>	SalesOrderDetailId Udt.SurrogateKeyInt IDENTITY(1,1) PRIMARY KEY,</a:t>
            </a:r>
            <a:endParaRPr>
              <a:solidFill>
                <a:srgbClr val="000000"/>
              </a:solidFill>
            </a:endParaRPr>
          </a:p>
          <a:p>
            <a:pPr indent="0" lvl="0" marL="0" rtl="0" algn="l">
              <a:spcBef>
                <a:spcPts val="0"/>
              </a:spcBef>
              <a:spcAft>
                <a:spcPts val="0"/>
              </a:spcAft>
              <a:buNone/>
            </a:pPr>
            <a:r>
              <a:rPr lang="en">
                <a:solidFill>
                  <a:srgbClr val="000000"/>
                </a:solidFill>
              </a:rPr>
              <a:t>	SalesOrderId Udt.SurrogateKeyInt NOT NULL,</a:t>
            </a:r>
            <a:endParaRPr>
              <a:solidFill>
                <a:srgbClr val="000000"/>
              </a:solidFill>
            </a:endParaRPr>
          </a:p>
          <a:p>
            <a:pPr indent="0" lvl="0" marL="0" rtl="0" algn="l">
              <a:spcBef>
                <a:spcPts val="0"/>
              </a:spcBef>
              <a:spcAft>
                <a:spcPts val="0"/>
              </a:spcAft>
              <a:buNone/>
            </a:pPr>
            <a:r>
              <a:rPr lang="en">
                <a:solidFill>
                  <a:srgbClr val="000000"/>
                </a:solidFill>
              </a:rPr>
              <a:t>	VehicleId Udt.SurrogateKeyInt NOT NULL,</a:t>
            </a:r>
            <a:endParaRPr>
              <a:solidFill>
                <a:srgbClr val="000000"/>
              </a:solidFill>
            </a:endParaRPr>
          </a:p>
          <a:p>
            <a:pPr indent="0" lvl="0" marL="0" rtl="0" algn="l">
              <a:spcBef>
                <a:spcPts val="0"/>
              </a:spcBef>
              <a:spcAft>
                <a:spcPts val="0"/>
              </a:spcAft>
              <a:buNone/>
            </a:pPr>
            <a:r>
              <a:rPr lang="en">
                <a:solidFill>
                  <a:srgbClr val="000000"/>
                </a:solidFill>
              </a:rPr>
              <a:t>	LineItemNumber INT NOT NULL,</a:t>
            </a:r>
            <a:endParaRPr>
              <a:solidFill>
                <a:srgbClr val="000000"/>
              </a:solidFill>
            </a:endParaRPr>
          </a:p>
          <a:p>
            <a:pPr indent="0" lvl="0" marL="0" rtl="0" algn="l">
              <a:spcBef>
                <a:spcPts val="0"/>
              </a:spcBef>
              <a:spcAft>
                <a:spcPts val="0"/>
              </a:spcAft>
              <a:buNone/>
            </a:pPr>
            <a:r>
              <a:rPr lang="en">
                <a:solidFill>
                  <a:srgbClr val="000000"/>
                </a:solidFill>
              </a:rPr>
              <a:t>	SalePrice Udt.PriceAmount NOT NULL,</a:t>
            </a:r>
            <a:endParaRPr>
              <a:solidFill>
                <a:srgbClr val="000000"/>
              </a:solidFill>
            </a:endParaRPr>
          </a:p>
          <a:p>
            <a:pPr indent="0" lvl="0" marL="0" rtl="0" algn="l">
              <a:spcBef>
                <a:spcPts val="0"/>
              </a:spcBef>
              <a:spcAft>
                <a:spcPts val="0"/>
              </a:spcAft>
              <a:buNone/>
            </a:pPr>
            <a:r>
              <a:rPr lang="en">
                <a:solidFill>
                  <a:srgbClr val="000000"/>
                </a:solidFill>
              </a:rPr>
              <a:t>	DiscountPercent Udt.PercentValue NOT NULL,</a:t>
            </a:r>
            <a:endParaRPr>
              <a:solidFill>
                <a:srgbClr val="000000"/>
              </a:solidFill>
            </a:endParaRPr>
          </a:p>
          <a:p>
            <a:pPr indent="0" lvl="0" marL="0" rtl="0" algn="l">
              <a:spcBef>
                <a:spcPts val="0"/>
              </a:spcBef>
              <a:spcAft>
                <a:spcPts val="0"/>
              </a:spcAft>
              <a:buNone/>
            </a:pPr>
            <a:r>
              <a:rPr lang="en">
                <a:solidFill>
                  <a:srgbClr val="000000"/>
                </a:solidFill>
              </a:rPr>
              <a:t>	ReviewRow BIT NOT NULL,</a:t>
            </a:r>
            <a:endParaRPr>
              <a:solidFill>
                <a:srgbClr val="000000"/>
              </a:solidFill>
            </a:endParaRPr>
          </a:p>
          <a:p>
            <a:pPr indent="0" lvl="0" marL="0" rtl="0" algn="l">
              <a:spcBef>
                <a:spcPts val="0"/>
              </a:spcBef>
              <a:spcAft>
                <a:spcPts val="0"/>
              </a:spcAft>
              <a:buNone/>
            </a:pPr>
            <a:r>
              <a:rPr lang="en">
                <a:solidFill>
                  <a:srgbClr val="000000"/>
                </a:solidFill>
              </a:rPr>
              <a:t>	FOREIGN KEY (SalesOrderId) REFERENCES Sales.SalesOrder(SalesOrderId),</a:t>
            </a:r>
            <a:endParaRPr>
              <a:solidFill>
                <a:srgbClr val="000000"/>
              </a:solidFill>
            </a:endParaRPr>
          </a:p>
          <a:p>
            <a:pPr indent="0" lvl="0" marL="0" rtl="0" algn="l">
              <a:spcBef>
                <a:spcPts val="0"/>
              </a:spcBef>
              <a:spcAft>
                <a:spcPts val="0"/>
              </a:spcAft>
              <a:buNone/>
            </a:pPr>
            <a:r>
              <a:rPr lang="en">
                <a:solidFill>
                  <a:srgbClr val="000000"/>
                </a:solidFill>
              </a:rPr>
              <a:t>	FOREIGN KEY (VehicleId) REFERENCES ProductInformation.Vehicle(VehicleId)</a:t>
            </a:r>
            <a:endParaRPr>
              <a:solidFill>
                <a:srgbClr val="000000"/>
              </a:solidFill>
            </a:endParaRPr>
          </a:p>
          <a:p>
            <a:pPr indent="0" lvl="0" marL="0" rtl="0" algn="l">
              <a:spcBef>
                <a:spcPts val="0"/>
              </a:spcBef>
              <a:spcAft>
                <a:spcPts val="0"/>
              </a:spcAft>
              <a:buNone/>
            </a:pPr>
            <a:r>
              <a:rPr lang="en">
                <a:solidFill>
                  <a:srgbClr val="000000"/>
                </a:solidFill>
              </a:rPr>
              <a:t>);</a:t>
            </a:r>
            <a:endParaRPr>
              <a:solidFill>
                <a:srgbClr val="000000"/>
              </a:solidFill>
            </a:endParaRPr>
          </a:p>
          <a:p>
            <a:pPr indent="0" lvl="0" marL="0" rtl="0" algn="l">
              <a:spcBef>
                <a:spcPts val="0"/>
              </a:spcBef>
              <a:spcAft>
                <a:spcPts val="0"/>
              </a:spcAft>
              <a:buNone/>
            </a:pPr>
            <a:r>
              <a:t/>
            </a:r>
            <a:endParaRPr>
              <a:solidFill>
                <a:srgbClr val="000000"/>
              </a:solidFill>
            </a:endParaRPr>
          </a:p>
        </p:txBody>
      </p:sp>
      <p:sp>
        <p:nvSpPr>
          <p:cNvPr id="209" name="Google Shape;209;g3abb0103071_1_0"/>
          <p:cNvSpPr txBox="1"/>
          <p:nvPr>
            <p:ph idx="1" type="body"/>
          </p:nvPr>
        </p:nvSpPr>
        <p:spPr>
          <a:xfrm>
            <a:off x="187750" y="2642800"/>
            <a:ext cx="5941500" cy="23652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USE [PrestigeCars_Project3];</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GO</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CREATE TABLE Sales.SalesOrderDetail(</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	SalesOrderDetailId Udt.SurrogateKeyInt IDENTITY(1,1) PRIMARY KEY,</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	SalesOrderId Udt.SurrogateKeyInt NOT NULL,</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	VehicleId Udt.SurrogateKeyInt NOT NULL,</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	LineItemNumber INT NOT NULL,</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	SalePrice Udt.PriceAmount NOT NULL,</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	DiscountPercent Udt.PercentValue NOT NULL,</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	ReviewRow BIT NOT NULL,</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	FOREIGN KEY (SalesOrderId) REFERENCES Sales.SalesOrder(SalesOrderId),</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	FOREIGN KEY (VehicleId) REFERENCES ProductInformation.Vehicle(VehicleId)</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rPr lang="en" sz="1060">
                <a:solidFill>
                  <a:srgbClr val="000000"/>
                </a:solidFill>
                <a:latin typeface="Verdana"/>
                <a:ea typeface="Verdana"/>
                <a:cs typeface="Verdana"/>
                <a:sym typeface="Verdana"/>
              </a:rPr>
              <a:t>);</a:t>
            </a:r>
            <a:endParaRPr sz="1060">
              <a:solidFill>
                <a:srgbClr val="000000"/>
              </a:solidFill>
              <a:latin typeface="Verdana"/>
              <a:ea typeface="Verdana"/>
              <a:cs typeface="Verdana"/>
              <a:sym typeface="Verdana"/>
            </a:endParaRPr>
          </a:p>
          <a:p>
            <a:pPr indent="0" lvl="0" marL="0" rtl="0" algn="l">
              <a:lnSpc>
                <a:spcPct val="80000"/>
              </a:lnSpc>
              <a:spcBef>
                <a:spcPts val="0"/>
              </a:spcBef>
              <a:spcAft>
                <a:spcPts val="0"/>
              </a:spcAft>
              <a:buSzPts val="770"/>
              <a:buNone/>
            </a:pPr>
            <a:r>
              <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SzPts val="770"/>
              <a:buNone/>
            </a:pPr>
            <a:r>
              <a:t/>
            </a:r>
            <a:endParaRPr sz="1060">
              <a:solidFill>
                <a:srgbClr val="000000"/>
              </a:solidFill>
              <a:latin typeface="Verdana"/>
              <a:ea typeface="Verdana"/>
              <a:cs typeface="Verdana"/>
              <a:sym typeface="Verdana"/>
            </a:endParaRPr>
          </a:p>
        </p:txBody>
      </p:sp>
      <p:sp>
        <p:nvSpPr>
          <p:cNvPr id="210" name="Google Shape;210;g3abb0103071_1_0"/>
          <p:cNvSpPr txBox="1"/>
          <p:nvPr>
            <p:ph idx="1" type="body"/>
          </p:nvPr>
        </p:nvSpPr>
        <p:spPr>
          <a:xfrm>
            <a:off x="187750" y="894775"/>
            <a:ext cx="5208000" cy="1665300"/>
          </a:xfrm>
          <a:prstGeom prst="rect">
            <a:avLst/>
          </a:prstGeom>
        </p:spPr>
        <p:txBody>
          <a:bodyPr anchorCtr="0" anchor="t" bIns="91425" lIns="91425" spcFirstLastPara="1" rIns="91425" wrap="square" tIns="91425">
            <a:normAutofit/>
          </a:bodyPr>
          <a:lstStyle/>
          <a:p>
            <a:pPr indent="-321310" lvl="0" marL="457200" rtl="0" algn="l">
              <a:lnSpc>
                <a:spcPct val="95000"/>
              </a:lnSpc>
              <a:spcBef>
                <a:spcPts val="0"/>
              </a:spcBef>
              <a:spcAft>
                <a:spcPts val="0"/>
              </a:spcAft>
              <a:buClr>
                <a:srgbClr val="000000"/>
              </a:buClr>
              <a:buSzPts val="1460"/>
              <a:buFont typeface="Verdana"/>
              <a:buChar char="●"/>
            </a:pPr>
            <a:r>
              <a:rPr lang="en" sz="1460">
                <a:solidFill>
                  <a:srgbClr val="000000"/>
                </a:solidFill>
                <a:latin typeface="Verdana"/>
                <a:ea typeface="Verdana"/>
                <a:cs typeface="Verdana"/>
                <a:sym typeface="Verdana"/>
              </a:rPr>
              <a:t>These Sales tables connects customers, vehicles, and staff together.</a:t>
            </a:r>
            <a:endParaRPr sz="1460">
              <a:solidFill>
                <a:srgbClr val="000000"/>
              </a:solidFill>
              <a:latin typeface="Verdana"/>
              <a:ea typeface="Verdana"/>
              <a:cs typeface="Verdana"/>
              <a:sym typeface="Verdana"/>
            </a:endParaRPr>
          </a:p>
          <a:p>
            <a:pPr indent="-321310" lvl="0" marL="457200" rtl="0" algn="l">
              <a:lnSpc>
                <a:spcPct val="95000"/>
              </a:lnSpc>
              <a:spcBef>
                <a:spcPts val="0"/>
              </a:spcBef>
              <a:spcAft>
                <a:spcPts val="0"/>
              </a:spcAft>
              <a:buClr>
                <a:srgbClr val="000000"/>
              </a:buClr>
              <a:buSzPts val="1460"/>
              <a:buFont typeface="Verdana"/>
              <a:buChar char="●"/>
            </a:pPr>
            <a:r>
              <a:rPr lang="en" sz="1460">
                <a:solidFill>
                  <a:srgbClr val="000000"/>
                </a:solidFill>
                <a:latin typeface="Verdana"/>
                <a:ea typeface="Verdana"/>
                <a:cs typeface="Verdana"/>
                <a:sym typeface="Verdana"/>
              </a:rPr>
              <a:t>Using these we can track a specific sales order to a specific customer and also find their location.</a:t>
            </a:r>
            <a:endParaRPr sz="1460">
              <a:solidFill>
                <a:srgbClr val="000000"/>
              </a:solidFill>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abb0103071_1_15"/>
          <p:cNvSpPr txBox="1"/>
          <p:nvPr>
            <p:ph type="title"/>
          </p:nvPr>
        </p:nvSpPr>
        <p:spPr>
          <a:xfrm>
            <a:off x="84475"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Tables - Reference Schema</a:t>
            </a:r>
            <a:endParaRPr/>
          </a:p>
        </p:txBody>
      </p:sp>
      <p:sp>
        <p:nvSpPr>
          <p:cNvPr id="216" name="Google Shape;216;g3abb0103071_1_15"/>
          <p:cNvSpPr txBox="1"/>
          <p:nvPr>
            <p:ph idx="1" type="body"/>
          </p:nvPr>
        </p:nvSpPr>
        <p:spPr>
          <a:xfrm>
            <a:off x="4125475" y="311325"/>
            <a:ext cx="5329500" cy="18975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lang="en" sz="1130">
                <a:solidFill>
                  <a:srgbClr val="000000"/>
                </a:solidFill>
              </a:rPr>
              <a:t>USE [PrestigeCars_Project3];</a:t>
            </a:r>
            <a:endParaRPr sz="1130">
              <a:solidFill>
                <a:srgbClr val="000000"/>
              </a:solidFill>
            </a:endParaRPr>
          </a:p>
          <a:p>
            <a:pPr indent="0" lvl="0" marL="0" rtl="0" algn="l">
              <a:lnSpc>
                <a:spcPct val="95000"/>
              </a:lnSpc>
              <a:spcBef>
                <a:spcPts val="0"/>
              </a:spcBef>
              <a:spcAft>
                <a:spcPts val="0"/>
              </a:spcAft>
              <a:buSzPts val="935"/>
              <a:buNone/>
            </a:pPr>
            <a:r>
              <a:rPr lang="en" sz="1130">
                <a:solidFill>
                  <a:srgbClr val="000000"/>
                </a:solidFill>
              </a:rPr>
              <a:t>GO</a:t>
            </a:r>
            <a:endParaRPr sz="1130">
              <a:solidFill>
                <a:srgbClr val="000000"/>
              </a:solidFill>
            </a:endParaRPr>
          </a:p>
          <a:p>
            <a:pPr indent="0" lvl="0" marL="0" rtl="0" algn="l">
              <a:lnSpc>
                <a:spcPct val="95000"/>
              </a:lnSpc>
              <a:spcBef>
                <a:spcPts val="0"/>
              </a:spcBef>
              <a:spcAft>
                <a:spcPts val="0"/>
              </a:spcAft>
              <a:buSzPts val="935"/>
              <a:buNone/>
            </a:pPr>
            <a:r>
              <a:t/>
            </a:r>
            <a:endParaRPr sz="1130">
              <a:solidFill>
                <a:srgbClr val="000000"/>
              </a:solidFill>
            </a:endParaRPr>
          </a:p>
          <a:p>
            <a:pPr indent="0" lvl="0" marL="0" rtl="0" algn="l">
              <a:lnSpc>
                <a:spcPct val="95000"/>
              </a:lnSpc>
              <a:spcBef>
                <a:spcPts val="0"/>
              </a:spcBef>
              <a:spcAft>
                <a:spcPts val="0"/>
              </a:spcAft>
              <a:buSzPts val="935"/>
              <a:buNone/>
            </a:pPr>
            <a:r>
              <a:rPr lang="en" sz="1130">
                <a:solidFill>
                  <a:srgbClr val="000000"/>
                </a:solidFill>
              </a:rPr>
              <a:t>CREATE TABLE ReferenceData.SalesRegion(</a:t>
            </a:r>
            <a:endParaRPr sz="1130">
              <a:solidFill>
                <a:srgbClr val="000000"/>
              </a:solidFill>
            </a:endParaRPr>
          </a:p>
          <a:p>
            <a:pPr indent="0" lvl="0" marL="0" rtl="0" algn="l">
              <a:lnSpc>
                <a:spcPct val="95000"/>
              </a:lnSpc>
              <a:spcBef>
                <a:spcPts val="0"/>
              </a:spcBef>
              <a:spcAft>
                <a:spcPts val="0"/>
              </a:spcAft>
              <a:buSzPts val="935"/>
              <a:buNone/>
            </a:pPr>
            <a:r>
              <a:rPr lang="en" sz="1130">
                <a:solidFill>
                  <a:srgbClr val="000000"/>
                </a:solidFill>
              </a:rPr>
              <a:t>	SalesRegionId Udt.SurrogateKeyInt IDENTITY(1,1) PRIMARY KEY,</a:t>
            </a:r>
            <a:endParaRPr sz="1130">
              <a:solidFill>
                <a:srgbClr val="000000"/>
              </a:solidFill>
            </a:endParaRPr>
          </a:p>
          <a:p>
            <a:pPr indent="0" lvl="0" marL="0" rtl="0" algn="l">
              <a:lnSpc>
                <a:spcPct val="95000"/>
              </a:lnSpc>
              <a:spcBef>
                <a:spcPts val="0"/>
              </a:spcBef>
              <a:spcAft>
                <a:spcPts val="0"/>
              </a:spcAft>
              <a:buSzPts val="935"/>
              <a:buNone/>
            </a:pPr>
            <a:r>
              <a:rPr lang="en" sz="1130">
                <a:solidFill>
                  <a:srgbClr val="000000"/>
                </a:solidFill>
              </a:rPr>
              <a:t>	SalesRegionName Udt.SalesRegionName UNIQUE NOT NULL</a:t>
            </a:r>
            <a:endParaRPr sz="1130">
              <a:solidFill>
                <a:srgbClr val="000000"/>
              </a:solidFill>
            </a:endParaRPr>
          </a:p>
          <a:p>
            <a:pPr indent="0" lvl="0" marL="0" rtl="0" algn="l">
              <a:lnSpc>
                <a:spcPct val="95000"/>
              </a:lnSpc>
              <a:spcBef>
                <a:spcPts val="0"/>
              </a:spcBef>
              <a:spcAft>
                <a:spcPts val="0"/>
              </a:spcAft>
              <a:buSzPts val="935"/>
              <a:buNone/>
            </a:pPr>
            <a:r>
              <a:rPr lang="en" sz="1130">
                <a:solidFill>
                  <a:srgbClr val="000000"/>
                </a:solidFill>
              </a:rPr>
              <a:t>);</a:t>
            </a:r>
            <a:endParaRPr sz="1130">
              <a:solidFill>
                <a:srgbClr val="000000"/>
              </a:solidFill>
            </a:endParaRPr>
          </a:p>
          <a:p>
            <a:pPr indent="0" lvl="0" marL="0" rtl="0" algn="l">
              <a:lnSpc>
                <a:spcPct val="95000"/>
              </a:lnSpc>
              <a:spcBef>
                <a:spcPts val="0"/>
              </a:spcBef>
              <a:spcAft>
                <a:spcPts val="0"/>
              </a:spcAft>
              <a:buSzPts val="935"/>
              <a:buNone/>
            </a:pPr>
            <a:r>
              <a:t/>
            </a:r>
            <a:endParaRPr sz="1130">
              <a:solidFill>
                <a:srgbClr val="000000"/>
              </a:solidFill>
            </a:endParaRPr>
          </a:p>
          <a:p>
            <a:pPr indent="0" lvl="0" marL="0" rtl="0" algn="l">
              <a:lnSpc>
                <a:spcPct val="95000"/>
              </a:lnSpc>
              <a:spcBef>
                <a:spcPts val="0"/>
              </a:spcBef>
              <a:spcAft>
                <a:spcPts val="0"/>
              </a:spcAft>
              <a:buSzPts val="935"/>
              <a:buNone/>
            </a:pPr>
            <a:r>
              <a:t/>
            </a:r>
            <a:endParaRPr sz="1230">
              <a:solidFill>
                <a:srgbClr val="000000"/>
              </a:solidFill>
            </a:endParaRPr>
          </a:p>
        </p:txBody>
      </p:sp>
      <p:sp>
        <p:nvSpPr>
          <p:cNvPr id="217" name="Google Shape;217;g3abb0103071_1_15"/>
          <p:cNvSpPr txBox="1"/>
          <p:nvPr>
            <p:ph idx="1" type="body"/>
          </p:nvPr>
        </p:nvSpPr>
        <p:spPr>
          <a:xfrm>
            <a:off x="4053175" y="2571750"/>
            <a:ext cx="5003400" cy="23652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770"/>
              <a:buNone/>
            </a:pPr>
            <a:r>
              <a:rPr lang="en" sz="1060">
                <a:solidFill>
                  <a:srgbClr val="000000"/>
                </a:solidFill>
                <a:latin typeface="Verdana"/>
                <a:ea typeface="Verdana"/>
                <a:cs typeface="Verdana"/>
                <a:sym typeface="Verdana"/>
              </a:rPr>
              <a:t>CREATE TABLE ReferenceData.Country(</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SzPts val="770"/>
              <a:buNone/>
            </a:pPr>
            <a:r>
              <a:rPr lang="en" sz="1060">
                <a:solidFill>
                  <a:srgbClr val="000000"/>
                </a:solidFill>
                <a:latin typeface="Verdana"/>
                <a:ea typeface="Verdana"/>
                <a:cs typeface="Verdana"/>
                <a:sym typeface="Verdana"/>
              </a:rPr>
              <a:t>	CountryId Udt.SurrogateKeyInt IDENTITY(1,1) PRIMARY KEY,</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SzPts val="770"/>
              <a:buNone/>
            </a:pPr>
            <a:r>
              <a:rPr lang="en" sz="1060">
                <a:solidFill>
                  <a:srgbClr val="000000"/>
                </a:solidFill>
                <a:latin typeface="Verdana"/>
                <a:ea typeface="Verdana"/>
                <a:cs typeface="Verdana"/>
                <a:sym typeface="Verdana"/>
              </a:rPr>
              <a:t>	CountryName Udt.CountryName NOT NULL,</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SzPts val="770"/>
              <a:buNone/>
            </a:pPr>
            <a:r>
              <a:rPr lang="en" sz="1060">
                <a:solidFill>
                  <a:srgbClr val="000000"/>
                </a:solidFill>
                <a:latin typeface="Verdana"/>
                <a:ea typeface="Verdana"/>
                <a:cs typeface="Verdana"/>
                <a:sym typeface="Verdana"/>
              </a:rPr>
              <a:t>	CountryISO2 Udt.ISO2 NOT NULL,</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SzPts val="770"/>
              <a:buNone/>
            </a:pPr>
            <a:r>
              <a:rPr lang="en" sz="1060">
                <a:solidFill>
                  <a:srgbClr val="000000"/>
                </a:solidFill>
                <a:latin typeface="Verdana"/>
                <a:ea typeface="Verdana"/>
                <a:cs typeface="Verdana"/>
                <a:sym typeface="Verdana"/>
              </a:rPr>
              <a:t>	CountryISO3 Udt.ISO3 NOT NULL,</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SzPts val="770"/>
              <a:buNone/>
            </a:pPr>
            <a:r>
              <a:rPr lang="en" sz="1060">
                <a:solidFill>
                  <a:srgbClr val="000000"/>
                </a:solidFill>
                <a:latin typeface="Verdana"/>
                <a:ea typeface="Verdana"/>
                <a:cs typeface="Verdana"/>
                <a:sym typeface="Verdana"/>
              </a:rPr>
              <a:t>	SalesRegionId Udt.SurrogateKeyInt NOT NULL,</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SzPts val="770"/>
              <a:buNone/>
            </a:pPr>
            <a:r>
              <a:rPr lang="en" sz="1060">
                <a:solidFill>
                  <a:srgbClr val="000000"/>
                </a:solidFill>
                <a:latin typeface="Verdana"/>
                <a:ea typeface="Verdana"/>
                <a:cs typeface="Verdana"/>
                <a:sym typeface="Verdana"/>
              </a:rPr>
              <a:t>	FOREIGN KEY (SalesRegionId) REFERENCES ReferenceData.SalesRegion(SalesRegionId)</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SzPts val="770"/>
              <a:buNone/>
            </a:pPr>
            <a:r>
              <a:rPr lang="en" sz="1060">
                <a:solidFill>
                  <a:srgbClr val="000000"/>
                </a:solidFill>
                <a:latin typeface="Verdana"/>
                <a:ea typeface="Verdana"/>
                <a:cs typeface="Verdana"/>
                <a:sym typeface="Verdana"/>
              </a:rPr>
              <a:t>);</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None/>
            </a:pPr>
            <a:r>
              <a:t/>
            </a:r>
            <a:endParaRPr sz="1060">
              <a:solidFill>
                <a:srgbClr val="000000"/>
              </a:solidFill>
              <a:latin typeface="Verdana"/>
              <a:ea typeface="Verdana"/>
              <a:cs typeface="Verdana"/>
              <a:sym typeface="Verdana"/>
            </a:endParaRPr>
          </a:p>
          <a:p>
            <a:pPr indent="0" lvl="0" marL="0" rtl="0" algn="l">
              <a:lnSpc>
                <a:spcPct val="95000"/>
              </a:lnSpc>
              <a:spcBef>
                <a:spcPts val="0"/>
              </a:spcBef>
              <a:spcAft>
                <a:spcPts val="0"/>
              </a:spcAft>
              <a:buSzPts val="770"/>
              <a:buNone/>
            </a:pPr>
            <a:r>
              <a:t/>
            </a:r>
            <a:endParaRPr sz="1060">
              <a:solidFill>
                <a:srgbClr val="000000"/>
              </a:solidFill>
              <a:latin typeface="Verdana"/>
              <a:ea typeface="Verdana"/>
              <a:cs typeface="Verdana"/>
              <a:sym typeface="Verdana"/>
            </a:endParaRPr>
          </a:p>
        </p:txBody>
      </p:sp>
      <p:sp>
        <p:nvSpPr>
          <p:cNvPr id="218" name="Google Shape;218;g3abb0103071_1_15"/>
          <p:cNvSpPr txBox="1"/>
          <p:nvPr>
            <p:ph idx="1" type="body"/>
          </p:nvPr>
        </p:nvSpPr>
        <p:spPr>
          <a:xfrm>
            <a:off x="187750" y="855875"/>
            <a:ext cx="3720900" cy="4038000"/>
          </a:xfrm>
          <a:prstGeom prst="rect">
            <a:avLst/>
          </a:prstGeom>
        </p:spPr>
        <p:txBody>
          <a:bodyPr anchorCtr="0" anchor="t" bIns="91425" lIns="91425" spcFirstLastPara="1" rIns="91425" wrap="square" tIns="91425">
            <a:normAutofit/>
          </a:bodyPr>
          <a:lstStyle/>
          <a:p>
            <a:pPr indent="-346710" lvl="0" marL="457200" rtl="0" algn="l">
              <a:lnSpc>
                <a:spcPct val="95000"/>
              </a:lnSpc>
              <a:spcBef>
                <a:spcPts val="0"/>
              </a:spcBef>
              <a:spcAft>
                <a:spcPts val="0"/>
              </a:spcAft>
              <a:buClr>
                <a:srgbClr val="000000"/>
              </a:buClr>
              <a:buSzPts val="1860"/>
              <a:buFont typeface="PT Sans Narrow"/>
              <a:buChar char="●"/>
            </a:pPr>
            <a:r>
              <a:rPr lang="en" sz="1860">
                <a:solidFill>
                  <a:srgbClr val="000000"/>
                </a:solidFill>
                <a:latin typeface="PT Sans Narrow"/>
                <a:ea typeface="PT Sans Narrow"/>
                <a:cs typeface="PT Sans Narrow"/>
                <a:sym typeface="PT Sans Narrow"/>
              </a:rPr>
              <a:t>Using these tables, we can ensure that data stays consistent when referencing to countries or regions in other schemas.</a:t>
            </a:r>
            <a:endParaRPr sz="1860">
              <a:solidFill>
                <a:srgbClr val="000000"/>
              </a:solidFill>
              <a:latin typeface="PT Sans Narrow"/>
              <a:ea typeface="PT Sans Narrow"/>
              <a:cs typeface="PT Sans Narrow"/>
              <a:sym typeface="PT Sans Narrow"/>
            </a:endParaRPr>
          </a:p>
          <a:p>
            <a:pPr indent="-346710" lvl="0" marL="457200" rtl="0" algn="l">
              <a:lnSpc>
                <a:spcPct val="95000"/>
              </a:lnSpc>
              <a:spcBef>
                <a:spcPts val="0"/>
              </a:spcBef>
              <a:spcAft>
                <a:spcPts val="0"/>
              </a:spcAft>
              <a:buClr>
                <a:srgbClr val="000000"/>
              </a:buClr>
              <a:buSzPts val="1860"/>
              <a:buFont typeface="PT Sans Narrow"/>
              <a:buChar char="●"/>
            </a:pPr>
            <a:r>
              <a:rPr lang="en" sz="1860">
                <a:solidFill>
                  <a:srgbClr val="000000"/>
                </a:solidFill>
                <a:latin typeface="PT Sans Narrow"/>
                <a:ea typeface="PT Sans Narrow"/>
                <a:cs typeface="PT Sans Narrow"/>
                <a:sym typeface="PT Sans Narrow"/>
              </a:rPr>
              <a:t>Which in turn helps makes it easy to filter out sales orders or customers based by their region.</a:t>
            </a:r>
            <a:endParaRPr sz="1860">
              <a:solidFill>
                <a:srgbClr val="000000"/>
              </a:solidFill>
              <a:latin typeface="PT Sans Narrow"/>
              <a:ea typeface="PT Sans Narrow"/>
              <a:cs typeface="PT Sans Narrow"/>
              <a:sym typeface="PT Sans Narro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abb0103071_1_5"/>
          <p:cNvSpPr txBox="1"/>
          <p:nvPr>
            <p:ph type="title"/>
          </p:nvPr>
        </p:nvSpPr>
        <p:spPr>
          <a:xfrm>
            <a:off x="208425"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ITVFs</a:t>
            </a:r>
            <a:endParaRPr/>
          </a:p>
        </p:txBody>
      </p:sp>
      <p:sp>
        <p:nvSpPr>
          <p:cNvPr id="224" name="Google Shape;224;g3abb0103071_1_5"/>
          <p:cNvSpPr txBox="1"/>
          <p:nvPr>
            <p:ph idx="1" type="body"/>
          </p:nvPr>
        </p:nvSpPr>
        <p:spPr>
          <a:xfrm>
            <a:off x="0" y="707400"/>
            <a:ext cx="6044700" cy="18720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lang="en" sz="830">
                <a:solidFill>
                  <a:srgbClr val="212121"/>
                </a:solidFill>
              </a:rPr>
              <a:t>--Retrieve Orders by who sold them by passing the staff member's id</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CREATE FUNCTION Sales.GetOrdersByStaff(@StaffId INT)</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RETURNS TABLE</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AS</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RETURN</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    SELECT so.SalesOrderId,so.InvoiceNumber,so.OrderDate,c.FirstName + ' ' + c.LastName AS CustomerFullName</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    FROM Sales.SalesOrder AS so</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    INNER JOIN HumanResources.Customer AS c ON so.CustomerId = c.CustomerId</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    INNER JOIN ReferenceData.Country AS co ON c.CountryId = co.CountryId</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    WHERE so.StaffId = @StaffId</a:t>
            </a:r>
            <a:endParaRPr sz="830">
              <a:solidFill>
                <a:srgbClr val="212121"/>
              </a:solidFill>
            </a:endParaRPr>
          </a:p>
          <a:p>
            <a:pPr indent="0" lvl="0" marL="0" rtl="0" algn="l">
              <a:lnSpc>
                <a:spcPct val="95000"/>
              </a:lnSpc>
              <a:spcBef>
                <a:spcPts val="0"/>
              </a:spcBef>
              <a:spcAft>
                <a:spcPts val="0"/>
              </a:spcAft>
              <a:buSzPts val="935"/>
              <a:buNone/>
            </a:pPr>
            <a:r>
              <a:rPr lang="en" sz="830">
                <a:solidFill>
                  <a:srgbClr val="212121"/>
                </a:solidFill>
              </a:rPr>
              <a:t>);</a:t>
            </a:r>
            <a:endParaRPr sz="830">
              <a:solidFill>
                <a:srgbClr val="212121"/>
              </a:solidFill>
            </a:endParaRPr>
          </a:p>
          <a:p>
            <a:pPr indent="0" lvl="0" marL="0" rtl="0" algn="l">
              <a:lnSpc>
                <a:spcPct val="95000"/>
              </a:lnSpc>
              <a:spcBef>
                <a:spcPts val="0"/>
              </a:spcBef>
              <a:spcAft>
                <a:spcPts val="0"/>
              </a:spcAft>
              <a:buSzPts val="935"/>
              <a:buNone/>
            </a:pPr>
            <a:r>
              <a:t/>
            </a:r>
            <a:endParaRPr sz="830">
              <a:solidFill>
                <a:srgbClr val="212121"/>
              </a:solidFill>
            </a:endParaRPr>
          </a:p>
        </p:txBody>
      </p:sp>
      <p:sp>
        <p:nvSpPr>
          <p:cNvPr id="225" name="Google Shape;225;g3abb0103071_1_5"/>
          <p:cNvSpPr txBox="1"/>
          <p:nvPr>
            <p:ph idx="1" type="body"/>
          </p:nvPr>
        </p:nvSpPr>
        <p:spPr>
          <a:xfrm>
            <a:off x="0" y="2720125"/>
            <a:ext cx="6044700" cy="1872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830">
                <a:solidFill>
                  <a:srgbClr val="212121"/>
                </a:solidFill>
              </a:rPr>
              <a:t>--Retrieve orders by the location that the customer was from</a:t>
            </a:r>
            <a:endParaRPr sz="830">
              <a:solidFill>
                <a:srgbClr val="212121"/>
              </a:solidFill>
            </a:endParaRPr>
          </a:p>
          <a:p>
            <a:pPr indent="0" lvl="0" marL="0" rtl="0" algn="l">
              <a:spcBef>
                <a:spcPts val="0"/>
              </a:spcBef>
              <a:spcAft>
                <a:spcPts val="0"/>
              </a:spcAft>
              <a:buNone/>
            </a:pPr>
            <a:r>
              <a:rPr lang="en" sz="830">
                <a:solidFill>
                  <a:srgbClr val="212121"/>
                </a:solidFill>
              </a:rPr>
              <a:t>CREATE FUNCTION Sales.GetOrdersByCountry(@CountryISO2 CHAR(2))</a:t>
            </a:r>
            <a:endParaRPr sz="830">
              <a:solidFill>
                <a:srgbClr val="212121"/>
              </a:solidFill>
            </a:endParaRPr>
          </a:p>
          <a:p>
            <a:pPr indent="0" lvl="0" marL="0" rtl="0" algn="l">
              <a:spcBef>
                <a:spcPts val="0"/>
              </a:spcBef>
              <a:spcAft>
                <a:spcPts val="0"/>
              </a:spcAft>
              <a:buNone/>
            </a:pPr>
            <a:r>
              <a:rPr lang="en" sz="830">
                <a:solidFill>
                  <a:srgbClr val="212121"/>
                </a:solidFill>
              </a:rPr>
              <a:t>RETURNS TABLE</a:t>
            </a:r>
            <a:endParaRPr sz="830">
              <a:solidFill>
                <a:srgbClr val="212121"/>
              </a:solidFill>
            </a:endParaRPr>
          </a:p>
          <a:p>
            <a:pPr indent="0" lvl="0" marL="0" rtl="0" algn="l">
              <a:spcBef>
                <a:spcPts val="0"/>
              </a:spcBef>
              <a:spcAft>
                <a:spcPts val="0"/>
              </a:spcAft>
              <a:buNone/>
            </a:pPr>
            <a:r>
              <a:rPr lang="en" sz="830">
                <a:solidFill>
                  <a:srgbClr val="212121"/>
                </a:solidFill>
              </a:rPr>
              <a:t>AS</a:t>
            </a:r>
            <a:endParaRPr sz="830">
              <a:solidFill>
                <a:srgbClr val="212121"/>
              </a:solidFill>
            </a:endParaRPr>
          </a:p>
          <a:p>
            <a:pPr indent="0" lvl="0" marL="0" rtl="0" algn="l">
              <a:spcBef>
                <a:spcPts val="0"/>
              </a:spcBef>
              <a:spcAft>
                <a:spcPts val="0"/>
              </a:spcAft>
              <a:buNone/>
            </a:pPr>
            <a:r>
              <a:rPr lang="en" sz="830">
                <a:solidFill>
                  <a:srgbClr val="212121"/>
                </a:solidFill>
              </a:rPr>
              <a:t>RETURN</a:t>
            </a:r>
            <a:endParaRPr sz="830">
              <a:solidFill>
                <a:srgbClr val="212121"/>
              </a:solidFill>
            </a:endParaRPr>
          </a:p>
          <a:p>
            <a:pPr indent="0" lvl="0" marL="0" rtl="0" algn="l">
              <a:spcBef>
                <a:spcPts val="0"/>
              </a:spcBef>
              <a:spcAft>
                <a:spcPts val="0"/>
              </a:spcAft>
              <a:buNone/>
            </a:pPr>
            <a:r>
              <a:rPr lang="en" sz="830">
                <a:solidFill>
                  <a:srgbClr val="212121"/>
                </a:solidFill>
              </a:rPr>
              <a:t>(</a:t>
            </a:r>
            <a:endParaRPr sz="830">
              <a:solidFill>
                <a:srgbClr val="212121"/>
              </a:solidFill>
            </a:endParaRPr>
          </a:p>
          <a:p>
            <a:pPr indent="0" lvl="0" marL="0" rtl="0" algn="l">
              <a:spcBef>
                <a:spcPts val="0"/>
              </a:spcBef>
              <a:spcAft>
                <a:spcPts val="0"/>
              </a:spcAft>
              <a:buNone/>
            </a:pPr>
            <a:r>
              <a:rPr lang="en" sz="830">
                <a:solidFill>
                  <a:srgbClr val="212121"/>
                </a:solidFill>
              </a:rPr>
              <a:t>    SELECT so.SalesOrderId,c.FirstName + ' ' + c.LastName AS CustomerFullName, co.CountryName</a:t>
            </a:r>
            <a:endParaRPr sz="830">
              <a:solidFill>
                <a:srgbClr val="212121"/>
              </a:solidFill>
            </a:endParaRPr>
          </a:p>
          <a:p>
            <a:pPr indent="0" lvl="0" marL="0" rtl="0" algn="l">
              <a:spcBef>
                <a:spcPts val="0"/>
              </a:spcBef>
              <a:spcAft>
                <a:spcPts val="0"/>
              </a:spcAft>
              <a:buNone/>
            </a:pPr>
            <a:r>
              <a:rPr lang="en" sz="830">
                <a:solidFill>
                  <a:srgbClr val="212121"/>
                </a:solidFill>
              </a:rPr>
              <a:t>    FROM Sales.SalesOrder AS so</a:t>
            </a:r>
            <a:endParaRPr sz="830">
              <a:solidFill>
                <a:srgbClr val="212121"/>
              </a:solidFill>
            </a:endParaRPr>
          </a:p>
          <a:p>
            <a:pPr indent="0" lvl="0" marL="0" rtl="0" algn="l">
              <a:spcBef>
                <a:spcPts val="0"/>
              </a:spcBef>
              <a:spcAft>
                <a:spcPts val="0"/>
              </a:spcAft>
              <a:buNone/>
            </a:pPr>
            <a:r>
              <a:rPr lang="en" sz="830">
                <a:solidFill>
                  <a:srgbClr val="212121"/>
                </a:solidFill>
              </a:rPr>
              <a:t>    INNER JOIN HumanResources.Customer AS c ON so.CustomerId = c.CustomerId</a:t>
            </a:r>
            <a:endParaRPr sz="830">
              <a:solidFill>
                <a:srgbClr val="212121"/>
              </a:solidFill>
            </a:endParaRPr>
          </a:p>
          <a:p>
            <a:pPr indent="0" lvl="0" marL="0" rtl="0" algn="l">
              <a:spcBef>
                <a:spcPts val="0"/>
              </a:spcBef>
              <a:spcAft>
                <a:spcPts val="0"/>
              </a:spcAft>
              <a:buNone/>
            </a:pPr>
            <a:r>
              <a:rPr lang="en" sz="830">
                <a:solidFill>
                  <a:srgbClr val="212121"/>
                </a:solidFill>
              </a:rPr>
              <a:t>    INNER JOIN ReferenceData.Country AS co ON c.CountryId = co.CountryId</a:t>
            </a:r>
            <a:endParaRPr sz="830">
              <a:solidFill>
                <a:srgbClr val="212121"/>
              </a:solidFill>
            </a:endParaRPr>
          </a:p>
          <a:p>
            <a:pPr indent="0" lvl="0" marL="0" rtl="0" algn="l">
              <a:spcBef>
                <a:spcPts val="0"/>
              </a:spcBef>
              <a:spcAft>
                <a:spcPts val="0"/>
              </a:spcAft>
              <a:buNone/>
            </a:pPr>
            <a:r>
              <a:rPr lang="en" sz="830">
                <a:solidFill>
                  <a:srgbClr val="212121"/>
                </a:solidFill>
              </a:rPr>
              <a:t>    WHERE co.CountryISO2 = @CountryISO2</a:t>
            </a:r>
            <a:endParaRPr sz="830">
              <a:solidFill>
                <a:srgbClr val="212121"/>
              </a:solidFill>
            </a:endParaRPr>
          </a:p>
          <a:p>
            <a:pPr indent="0" lvl="0" marL="0" rtl="0" algn="l">
              <a:spcBef>
                <a:spcPts val="0"/>
              </a:spcBef>
              <a:spcAft>
                <a:spcPts val="0"/>
              </a:spcAft>
              <a:buNone/>
            </a:pPr>
            <a:r>
              <a:rPr lang="en" sz="830">
                <a:solidFill>
                  <a:srgbClr val="212121"/>
                </a:solidFill>
              </a:rPr>
              <a:t>);</a:t>
            </a:r>
            <a:endParaRPr sz="830">
              <a:solidFill>
                <a:srgbClr val="212121"/>
              </a:solidFill>
            </a:endParaRPr>
          </a:p>
          <a:p>
            <a:pPr indent="0" lvl="0" marL="0" rtl="0" algn="l">
              <a:spcBef>
                <a:spcPts val="0"/>
              </a:spcBef>
              <a:spcAft>
                <a:spcPts val="0"/>
              </a:spcAft>
              <a:buNone/>
            </a:pPr>
            <a:r>
              <a:t/>
            </a:r>
            <a:endParaRPr sz="830">
              <a:solidFill>
                <a:srgbClr val="212121"/>
              </a:solidFill>
            </a:endParaRPr>
          </a:p>
          <a:p>
            <a:pPr indent="0" lvl="0" marL="0" rtl="0" algn="l">
              <a:lnSpc>
                <a:spcPct val="95000"/>
              </a:lnSpc>
              <a:spcBef>
                <a:spcPts val="0"/>
              </a:spcBef>
              <a:spcAft>
                <a:spcPts val="0"/>
              </a:spcAft>
              <a:buSzPts val="935"/>
              <a:buNone/>
            </a:pPr>
            <a:r>
              <a:t/>
            </a:r>
            <a:endParaRPr sz="830">
              <a:solidFill>
                <a:srgbClr val="212121"/>
              </a:solidFill>
            </a:endParaRPr>
          </a:p>
        </p:txBody>
      </p:sp>
      <p:sp>
        <p:nvSpPr>
          <p:cNvPr id="226" name="Google Shape;226;g3abb0103071_1_5"/>
          <p:cNvSpPr txBox="1"/>
          <p:nvPr/>
        </p:nvSpPr>
        <p:spPr>
          <a:xfrm>
            <a:off x="5323575" y="165300"/>
            <a:ext cx="3573600" cy="4812900"/>
          </a:xfrm>
          <a:prstGeom prst="rect">
            <a:avLst/>
          </a:prstGeom>
          <a:noFill/>
          <a:ln>
            <a:noFill/>
          </a:ln>
        </p:spPr>
        <p:txBody>
          <a:bodyPr anchorCtr="0" anchor="t" bIns="91425" lIns="91425" spcFirstLastPara="1" rIns="91425" wrap="square" tIns="91425">
            <a:noAutofit/>
          </a:bodyPr>
          <a:lstStyle/>
          <a:p>
            <a:pPr indent="-255905" lvl="0" marL="285750" rtl="0" algn="l">
              <a:lnSpc>
                <a:spcPct val="95000"/>
              </a:lnSpc>
              <a:spcBef>
                <a:spcPts val="0"/>
              </a:spcBef>
              <a:spcAft>
                <a:spcPts val="0"/>
              </a:spcAft>
              <a:buClr>
                <a:srgbClr val="212121"/>
              </a:buClr>
              <a:buSzPts val="1330"/>
              <a:buFont typeface="Open Sans"/>
              <a:buChar char="●"/>
            </a:pPr>
            <a:r>
              <a:rPr lang="en" sz="1330">
                <a:solidFill>
                  <a:srgbClr val="212121"/>
                </a:solidFill>
                <a:latin typeface="Open Sans"/>
                <a:ea typeface="Open Sans"/>
                <a:cs typeface="Open Sans"/>
                <a:sym typeface="Open Sans"/>
              </a:rPr>
              <a:t>Sales.GetOrdersByCountry</a:t>
            </a:r>
            <a:endParaRPr sz="1330">
              <a:solidFill>
                <a:srgbClr val="212121"/>
              </a:solidFill>
              <a:latin typeface="Open Sans"/>
              <a:ea typeface="Open Sans"/>
              <a:cs typeface="Open Sans"/>
              <a:sym typeface="Open Sans"/>
            </a:endParaRPr>
          </a:p>
          <a:p>
            <a:pPr indent="-313055" lvl="1" marL="914400" rtl="0" algn="l">
              <a:lnSpc>
                <a:spcPct val="95000"/>
              </a:lnSpc>
              <a:spcBef>
                <a:spcPts val="0"/>
              </a:spcBef>
              <a:spcAft>
                <a:spcPts val="0"/>
              </a:spcAft>
              <a:buClr>
                <a:srgbClr val="212121"/>
              </a:buClr>
              <a:buSzPts val="1330"/>
              <a:buFont typeface="Open Sans"/>
              <a:buChar char="○"/>
            </a:pPr>
            <a:r>
              <a:rPr lang="en" sz="1330">
                <a:solidFill>
                  <a:srgbClr val="212121"/>
                </a:solidFill>
                <a:latin typeface="Open Sans"/>
                <a:ea typeface="Open Sans"/>
                <a:cs typeface="Open Sans"/>
                <a:sym typeface="Open Sans"/>
              </a:rPr>
              <a:t>Retrieves sales orders based on the customer’s country using their ISO2 like US for United States or FR for France as an example.</a:t>
            </a:r>
            <a:endParaRPr sz="1330">
              <a:solidFill>
                <a:srgbClr val="212121"/>
              </a:solidFill>
              <a:latin typeface="Open Sans"/>
              <a:ea typeface="Open Sans"/>
              <a:cs typeface="Open Sans"/>
              <a:sym typeface="Open Sans"/>
            </a:endParaRPr>
          </a:p>
          <a:p>
            <a:pPr indent="-313055" lvl="1" marL="914400" rtl="0" algn="l">
              <a:lnSpc>
                <a:spcPct val="95000"/>
              </a:lnSpc>
              <a:spcBef>
                <a:spcPts val="0"/>
              </a:spcBef>
              <a:spcAft>
                <a:spcPts val="0"/>
              </a:spcAft>
              <a:buClr>
                <a:srgbClr val="212121"/>
              </a:buClr>
              <a:buSzPts val="1330"/>
              <a:buFont typeface="Open Sans"/>
              <a:buChar char="○"/>
            </a:pPr>
            <a:r>
              <a:rPr lang="en" sz="1330">
                <a:solidFill>
                  <a:srgbClr val="212121"/>
                </a:solidFill>
                <a:latin typeface="Open Sans"/>
                <a:ea typeface="Open Sans"/>
                <a:cs typeface="Open Sans"/>
                <a:sym typeface="Open Sans"/>
              </a:rPr>
              <a:t>Useful to see which countries generates the most sales.</a:t>
            </a:r>
            <a:endParaRPr sz="1330">
              <a:solidFill>
                <a:srgbClr val="212121"/>
              </a:solidFill>
              <a:latin typeface="Open Sans"/>
              <a:ea typeface="Open Sans"/>
              <a:cs typeface="Open Sans"/>
              <a:sym typeface="Open Sans"/>
            </a:endParaRPr>
          </a:p>
          <a:p>
            <a:pPr indent="-313055" lvl="0" marL="457200" rtl="0" algn="l">
              <a:lnSpc>
                <a:spcPct val="95000"/>
              </a:lnSpc>
              <a:spcBef>
                <a:spcPts val="0"/>
              </a:spcBef>
              <a:spcAft>
                <a:spcPts val="0"/>
              </a:spcAft>
              <a:buClr>
                <a:srgbClr val="212121"/>
              </a:buClr>
              <a:buSzPts val="1330"/>
              <a:buFont typeface="Open Sans"/>
              <a:buChar char="●"/>
            </a:pPr>
            <a:r>
              <a:rPr lang="en" sz="1330">
                <a:solidFill>
                  <a:srgbClr val="212121"/>
                </a:solidFill>
                <a:latin typeface="Open Sans"/>
                <a:ea typeface="Open Sans"/>
                <a:cs typeface="Open Sans"/>
                <a:sym typeface="Open Sans"/>
              </a:rPr>
              <a:t>Sales.GetOrdersByStaff</a:t>
            </a:r>
            <a:endParaRPr sz="1330">
              <a:solidFill>
                <a:srgbClr val="212121"/>
              </a:solidFill>
              <a:latin typeface="Open Sans"/>
              <a:ea typeface="Open Sans"/>
              <a:cs typeface="Open Sans"/>
              <a:sym typeface="Open Sans"/>
            </a:endParaRPr>
          </a:p>
          <a:p>
            <a:pPr indent="-313055" lvl="1" marL="914400" rtl="0" algn="l">
              <a:lnSpc>
                <a:spcPct val="95000"/>
              </a:lnSpc>
              <a:spcBef>
                <a:spcPts val="0"/>
              </a:spcBef>
              <a:spcAft>
                <a:spcPts val="0"/>
              </a:spcAft>
              <a:buClr>
                <a:srgbClr val="212121"/>
              </a:buClr>
              <a:buSzPts val="1330"/>
              <a:buFont typeface="Open Sans"/>
              <a:buChar char="○"/>
            </a:pPr>
            <a:r>
              <a:rPr lang="en" sz="1330">
                <a:solidFill>
                  <a:srgbClr val="212121"/>
                </a:solidFill>
                <a:latin typeface="Open Sans"/>
                <a:ea typeface="Open Sans"/>
                <a:cs typeface="Open Sans"/>
                <a:sym typeface="Open Sans"/>
              </a:rPr>
              <a:t>Returns all the sales linked to a specific staff member</a:t>
            </a:r>
            <a:endParaRPr sz="1330">
              <a:solidFill>
                <a:srgbClr val="212121"/>
              </a:solidFill>
              <a:latin typeface="Open Sans"/>
              <a:ea typeface="Open Sans"/>
              <a:cs typeface="Open Sans"/>
              <a:sym typeface="Open Sans"/>
            </a:endParaRPr>
          </a:p>
          <a:p>
            <a:pPr indent="-313055" lvl="1" marL="914400" rtl="0" algn="l">
              <a:lnSpc>
                <a:spcPct val="95000"/>
              </a:lnSpc>
              <a:spcBef>
                <a:spcPts val="0"/>
              </a:spcBef>
              <a:spcAft>
                <a:spcPts val="0"/>
              </a:spcAft>
              <a:buClr>
                <a:srgbClr val="212121"/>
              </a:buClr>
              <a:buSzPts val="1330"/>
              <a:buFont typeface="Open Sans"/>
              <a:buChar char="○"/>
            </a:pPr>
            <a:r>
              <a:rPr lang="en" sz="1330">
                <a:solidFill>
                  <a:srgbClr val="212121"/>
                </a:solidFill>
                <a:latin typeface="Open Sans"/>
                <a:ea typeface="Open Sans"/>
                <a:cs typeface="Open Sans"/>
                <a:sym typeface="Open Sans"/>
              </a:rPr>
              <a:t>Useful as this is something that multiple people will want to see, so no need to rewrite the code and use this function instead.</a:t>
            </a:r>
            <a:endParaRPr sz="1330">
              <a:solidFill>
                <a:srgbClr val="21212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abb0103071_1_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Running ITVFs and Results</a:t>
            </a:r>
            <a:endParaRPr/>
          </a:p>
        </p:txBody>
      </p:sp>
      <p:sp>
        <p:nvSpPr>
          <p:cNvPr id="232" name="Google Shape;232;g3abb0103071_1_28"/>
          <p:cNvSpPr txBox="1"/>
          <p:nvPr>
            <p:ph idx="1" type="body"/>
          </p:nvPr>
        </p:nvSpPr>
        <p:spPr>
          <a:xfrm>
            <a:off x="270375" y="1204350"/>
            <a:ext cx="43923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35"/>
              <a:buNone/>
            </a:pPr>
            <a:r>
              <a:rPr lang="en" sz="1729">
                <a:solidFill>
                  <a:srgbClr val="212121"/>
                </a:solidFill>
              </a:rPr>
              <a:t>SELECT *</a:t>
            </a:r>
            <a:endParaRPr sz="1729">
              <a:solidFill>
                <a:srgbClr val="212121"/>
              </a:solidFill>
            </a:endParaRPr>
          </a:p>
          <a:p>
            <a:pPr indent="0" lvl="0" marL="0" rtl="0" algn="l">
              <a:spcBef>
                <a:spcPts val="0"/>
              </a:spcBef>
              <a:spcAft>
                <a:spcPts val="0"/>
              </a:spcAft>
              <a:buSzPts val="935"/>
              <a:buNone/>
            </a:pPr>
            <a:r>
              <a:rPr lang="en" sz="1729">
                <a:solidFill>
                  <a:srgbClr val="212121"/>
                </a:solidFill>
              </a:rPr>
              <a:t>FROM Sales.GetOrdersByCountry('US');</a:t>
            </a:r>
            <a:endParaRPr sz="2029">
              <a:solidFill>
                <a:srgbClr val="212121"/>
              </a:solidFill>
            </a:endParaRPr>
          </a:p>
        </p:txBody>
      </p:sp>
      <p:sp>
        <p:nvSpPr>
          <p:cNvPr id="233" name="Google Shape;233;g3abb0103071_1_28"/>
          <p:cNvSpPr txBox="1"/>
          <p:nvPr>
            <p:ph idx="1" type="body"/>
          </p:nvPr>
        </p:nvSpPr>
        <p:spPr>
          <a:xfrm>
            <a:off x="311700" y="3236500"/>
            <a:ext cx="3937800" cy="87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SELECT *</a:t>
            </a:r>
            <a:endParaRPr>
              <a:solidFill>
                <a:srgbClr val="000000"/>
              </a:solidFill>
            </a:endParaRPr>
          </a:p>
          <a:p>
            <a:pPr indent="0" lvl="0" marL="0" rtl="0" algn="l">
              <a:spcBef>
                <a:spcPts val="0"/>
              </a:spcBef>
              <a:spcAft>
                <a:spcPts val="0"/>
              </a:spcAft>
              <a:buNone/>
            </a:pPr>
            <a:r>
              <a:rPr lang="en">
                <a:solidFill>
                  <a:srgbClr val="000000"/>
                </a:solidFill>
              </a:rPr>
              <a:t>FROM Sales.GetOrdersByStaff(5);</a:t>
            </a:r>
            <a:endParaRPr>
              <a:solidFill>
                <a:srgbClr val="000000"/>
              </a:solidFill>
            </a:endParaRPr>
          </a:p>
        </p:txBody>
      </p:sp>
      <p:pic>
        <p:nvPicPr>
          <p:cNvPr id="234" name="Google Shape;234;g3abb0103071_1_28"/>
          <p:cNvPicPr preferRelativeResize="0"/>
          <p:nvPr/>
        </p:nvPicPr>
        <p:blipFill>
          <a:blip r:embed="rId3">
            <a:alphaModFix/>
          </a:blip>
          <a:stretch>
            <a:fillRect/>
          </a:stretch>
        </p:blipFill>
        <p:spPr>
          <a:xfrm>
            <a:off x="4401900" y="3236500"/>
            <a:ext cx="4010025" cy="1238250"/>
          </a:xfrm>
          <a:prstGeom prst="rect">
            <a:avLst/>
          </a:prstGeom>
          <a:noFill/>
          <a:ln>
            <a:noFill/>
          </a:ln>
        </p:spPr>
      </p:pic>
      <p:pic>
        <p:nvPicPr>
          <p:cNvPr id="235" name="Google Shape;235;g3abb0103071_1_28"/>
          <p:cNvPicPr preferRelativeResize="0"/>
          <p:nvPr/>
        </p:nvPicPr>
        <p:blipFill>
          <a:blip r:embed="rId4">
            <a:alphaModFix/>
          </a:blip>
          <a:stretch>
            <a:fillRect/>
          </a:stretch>
        </p:blipFill>
        <p:spPr>
          <a:xfrm>
            <a:off x="4572000" y="1101250"/>
            <a:ext cx="3839925" cy="117789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abb0103071_0_8"/>
          <p:cNvSpPr txBox="1"/>
          <p:nvPr>
            <p:ph type="title"/>
          </p:nvPr>
        </p:nvSpPr>
        <p:spPr>
          <a:xfrm>
            <a:off x="1242450" y="1260750"/>
            <a:ext cx="6659100" cy="24618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3600"/>
              <a:buNone/>
            </a:pPr>
            <a:r>
              <a:rPr lang="en" sz="6500"/>
              <a:t>GROUP 5</a:t>
            </a:r>
            <a:endParaRPr sz="6500"/>
          </a:p>
          <a:p>
            <a:pPr indent="0" lvl="0" marL="0" rtl="0" algn="ctr">
              <a:lnSpc>
                <a:spcPct val="100000"/>
              </a:lnSpc>
              <a:spcBef>
                <a:spcPts val="0"/>
              </a:spcBef>
              <a:spcAft>
                <a:spcPts val="0"/>
              </a:spcAft>
              <a:buSzPts val="3600"/>
              <a:buNone/>
            </a:pPr>
            <a:r>
              <a:rPr lang="en" sz="6500"/>
              <a:t>NACE COMPETENCIES</a:t>
            </a:r>
            <a:endParaRPr sz="6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abb0103071_0_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NACE COMPETENCIES - RENZO</a:t>
            </a:r>
            <a:endParaRPr/>
          </a:p>
        </p:txBody>
      </p:sp>
      <p:sp>
        <p:nvSpPr>
          <p:cNvPr id="246" name="Google Shape;246;g3abb0103071_0_1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SzPts val="1900"/>
              <a:buChar char="●"/>
            </a:pPr>
            <a:r>
              <a:rPr lang="en" sz="1900"/>
              <a:t>Leadership - I split the group into a design and implementation team so that we could work in a nice clear order and avoid confusion. I created a Task structure so that both teams knew exactly what needed to be done and stay on track. My role was to connect both teams, so we could create a working PrestigeCars database.</a:t>
            </a:r>
            <a:endParaRPr sz="1900"/>
          </a:p>
          <a:p>
            <a:pPr indent="-349250" lvl="0" marL="457200" rtl="0" algn="l">
              <a:lnSpc>
                <a:spcPct val="115000"/>
              </a:lnSpc>
              <a:spcBef>
                <a:spcPts val="0"/>
              </a:spcBef>
              <a:spcAft>
                <a:spcPts val="0"/>
              </a:spcAft>
              <a:buSzPts val="1900"/>
              <a:buChar char="●"/>
            </a:pPr>
            <a:r>
              <a:rPr lang="en" sz="1900"/>
              <a:t>Communication - Kept in touch through WhatsApp so I could assign tasks and share updates on progress.</a:t>
            </a:r>
            <a:endParaRPr sz="19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abb0103071_0_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NACE COMPETENCIES - Bryan</a:t>
            </a:r>
            <a:endParaRPr/>
          </a:p>
        </p:txBody>
      </p:sp>
      <p:sp>
        <p:nvSpPr>
          <p:cNvPr id="252" name="Google Shape;252;g3abb0103071_0_17"/>
          <p:cNvSpPr txBox="1"/>
          <p:nvPr>
            <p:ph idx="1" type="body"/>
          </p:nvPr>
        </p:nvSpPr>
        <p:spPr>
          <a:xfrm>
            <a:off x="311700" y="11524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a:t>Technology- assisted with implementing UDTs, schemas, and table definitions across different domains. Supported testing and ensured database objects compiled correctly in order.</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Teamwork- Coordinated with both design and implementation members to clarify missing attributes and constraints. Helped maintain consistency by reviewing shared scripts and resolving merge issues.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abb0103071_0_2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NACE COMPETENCIES - HTOO</a:t>
            </a:r>
            <a:endParaRPr/>
          </a:p>
        </p:txBody>
      </p:sp>
      <p:sp>
        <p:nvSpPr>
          <p:cNvPr id="258" name="Google Shape;258;g3abb0103071_0_2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Communication- Prepared domain documentation and explained schema purposes clearly for implementation. Provided timely feedback on naming conventions and attribute corrections.</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a:t>Teamwork- Worked with the group to refine table structures and confirm foreign key paths. Helped synchronize design updates across all team members.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abb0103071_0_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NACE COMPETENCIES - NADIA</a:t>
            </a:r>
            <a:endParaRPr/>
          </a:p>
        </p:txBody>
      </p:sp>
      <p:sp>
        <p:nvSpPr>
          <p:cNvPr id="264" name="Google Shape;264;g3abb0103071_0_2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61950" lvl="0" marL="457200" rtl="0" algn="l">
              <a:lnSpc>
                <a:spcPct val="115000"/>
              </a:lnSpc>
              <a:spcBef>
                <a:spcPts val="0"/>
              </a:spcBef>
              <a:spcAft>
                <a:spcPts val="0"/>
              </a:spcAft>
              <a:buSzPts val="2100"/>
              <a:buChar char="●"/>
            </a:pPr>
            <a:r>
              <a:rPr lang="en" sz="1900"/>
              <a:t>Communication- Created clear ERD diagrams and schema definitions used by the implementation team. Explained domain relationships and clarified attribute requirements when questions came up.</a:t>
            </a:r>
            <a:endParaRPr sz="1900"/>
          </a:p>
          <a:p>
            <a:pPr indent="-349250" lvl="0" marL="457200" rtl="0" algn="l">
              <a:lnSpc>
                <a:spcPct val="115000"/>
              </a:lnSpc>
              <a:spcBef>
                <a:spcPts val="0"/>
              </a:spcBef>
              <a:spcAft>
                <a:spcPts val="0"/>
              </a:spcAft>
              <a:buSzPts val="1900"/>
              <a:buChar char="●"/>
            </a:pPr>
            <a:r>
              <a:rPr lang="en" sz="1900"/>
              <a:t>Teamwork- Collaborated with other design members to finalize domain structures, constraints, and keys. Worked closely with implementation to keep design and code aligned.</a:t>
            </a:r>
            <a:endParaRPr sz="19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t/>
            </a:r>
            <a:endParaRPr sz="1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abb0103071_0_3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NACE COMPETENCIES - ALEXANDER</a:t>
            </a:r>
            <a:endParaRPr/>
          </a:p>
        </p:txBody>
      </p:sp>
      <p:sp>
        <p:nvSpPr>
          <p:cNvPr id="270" name="Google Shape;270;g3abb0103071_0_3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Critical Thinking- Analyzed system requirements and translated them into accurate ERD relationships. Ensured the model reflected correct cardinalities and domain logic.</a:t>
            </a:r>
            <a:endParaRPr/>
          </a:p>
          <a:p>
            <a:pPr indent="-342900" lvl="0" marL="457200" rtl="0" algn="l">
              <a:lnSpc>
                <a:spcPct val="115000"/>
              </a:lnSpc>
              <a:spcBef>
                <a:spcPts val="0"/>
              </a:spcBef>
              <a:spcAft>
                <a:spcPts val="0"/>
              </a:spcAft>
              <a:buSzPts val="1800"/>
              <a:buChar char="●"/>
            </a:pPr>
            <a:r>
              <a:rPr lang="en"/>
              <a:t>Collaboration- Actively supported implementation by reviewing scripts and confirming design details. Maintained open communication to resolve ambiguities quickly.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abb0103071_0_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NACE COMPETENCIES - DEVAK</a:t>
            </a:r>
            <a:endParaRPr/>
          </a:p>
        </p:txBody>
      </p:sp>
      <p:sp>
        <p:nvSpPr>
          <p:cNvPr id="276" name="Google Shape;276;g3abb0103071_0_3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en"/>
              <a:t>Technology- Used Docker, SQL Server, and DBeaver to build the full PrestigeCars_Project3 database. Implemented schemas, tables, UDTs, and ITVFs, and verified the database through testing.</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n"/>
              <a:t>Critical Thinking- Solved SQL errors by analyzing dependencies, fixing foreign keys, and adjusting script order. Ensured the final build executed successfully without conflicts.</a:t>
            </a:r>
            <a:endParaRPr/>
          </a:p>
          <a:p>
            <a:pPr indent="0" lvl="0" marL="0" rtl="0" algn="l">
              <a:lnSpc>
                <a:spcPct val="115000"/>
              </a:lnSpc>
              <a:spcBef>
                <a:spcPts val="1200"/>
              </a:spcBef>
              <a:spcAft>
                <a:spcPts val="0"/>
              </a:spcAft>
              <a:buSzPts val="1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ab83d07921_0_50"/>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SOURCES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ab83d07921_0_5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SOURCES USED</a:t>
            </a:r>
            <a:endParaRPr/>
          </a:p>
        </p:txBody>
      </p:sp>
      <p:sp>
        <p:nvSpPr>
          <p:cNvPr id="287" name="Google Shape;287;g3ab83d07921_0_58"/>
          <p:cNvSpPr txBox="1"/>
          <p:nvPr>
            <p:ph idx="1" type="body"/>
          </p:nvPr>
        </p:nvSpPr>
        <p:spPr>
          <a:xfrm>
            <a:off x="404650" y="1041775"/>
            <a:ext cx="8520600" cy="3914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ITVF</a:t>
            </a:r>
            <a:endParaRPr sz="1100">
              <a:solidFill>
                <a:srgbClr val="000000"/>
              </a:solidFill>
              <a:latin typeface="Arial"/>
              <a:ea typeface="Arial"/>
              <a:cs typeface="Arial"/>
              <a:sym typeface="Arial"/>
            </a:endParaRPr>
          </a:p>
          <a:p>
            <a:pPr indent="-285750" lvl="1" marL="914400" rtl="0" algn="l">
              <a:lnSpc>
                <a:spcPct val="133333"/>
              </a:lnSpc>
              <a:spcBef>
                <a:spcPts val="0"/>
              </a:spcBef>
              <a:spcAft>
                <a:spcPts val="0"/>
              </a:spcAft>
              <a:buClr>
                <a:srgbClr val="212121"/>
              </a:buClr>
              <a:buSzPts val="900"/>
              <a:buFont typeface="Courier New"/>
              <a:buChar char="○"/>
            </a:pPr>
            <a:r>
              <a:rPr lang="en" sz="1100" u="sng">
                <a:solidFill>
                  <a:srgbClr val="1155CC"/>
                </a:solidFill>
                <a:latin typeface="Arial"/>
                <a:ea typeface="Arial"/>
                <a:cs typeface="Arial"/>
                <a:sym typeface="Arial"/>
                <a:hlinkClick r:id="rId3">
                  <a:extLst>
                    <a:ext uri="{A12FA001-AC4F-418D-AE19-62706E023703}">
                      <ahyp:hlinkClr val="tx"/>
                    </a:ext>
                  </a:extLst>
                </a:hlinkClick>
              </a:rPr>
              <a:t>https://www.geeksforgeeks.org/sql/inline-table-valued-function-in-sql-server/</a:t>
            </a:r>
            <a:endParaRPr sz="900">
              <a:solidFill>
                <a:srgbClr val="212121"/>
              </a:solidFill>
              <a:highlight>
                <a:srgbClr val="FFFFFE"/>
              </a:highlight>
              <a:latin typeface="Courier New"/>
              <a:ea typeface="Courier New"/>
              <a:cs typeface="Courier New"/>
              <a:sym typeface="Courier New"/>
            </a:endParaRPr>
          </a:p>
          <a:p>
            <a:pPr indent="-285750" lvl="1" marL="914400" rtl="0" algn="l">
              <a:lnSpc>
                <a:spcPct val="133333"/>
              </a:lnSpc>
              <a:spcBef>
                <a:spcPts val="0"/>
              </a:spcBef>
              <a:spcAft>
                <a:spcPts val="0"/>
              </a:spcAft>
              <a:buClr>
                <a:srgbClr val="212121"/>
              </a:buClr>
              <a:buSzPts val="900"/>
              <a:buFont typeface="Courier New"/>
              <a:buChar char="○"/>
            </a:pPr>
            <a:r>
              <a:rPr lang="en" sz="1100" u="sng">
                <a:solidFill>
                  <a:srgbClr val="1155CC"/>
                </a:solidFill>
                <a:latin typeface="Arial"/>
                <a:ea typeface="Arial"/>
                <a:cs typeface="Arial"/>
                <a:sym typeface="Arial"/>
                <a:hlinkClick r:id="rId4">
                  <a:extLst>
                    <a:ext uri="{A12FA001-AC4F-418D-AE19-62706E023703}">
                      <ahyp:hlinkClr val="tx"/>
                    </a:ext>
                  </a:extLst>
                </a:hlinkClick>
              </a:rPr>
              <a:t>https://www.sqlservercentral.com/articles/creating-and-using-inline-table-valued-functions</a:t>
            </a:r>
            <a:endParaRPr sz="1100">
              <a:solidFill>
                <a:srgbClr val="212121"/>
              </a:solidFill>
              <a:latin typeface="Arial"/>
              <a:ea typeface="Arial"/>
              <a:cs typeface="Arial"/>
              <a:sym typeface="Arial"/>
            </a:endParaRPr>
          </a:p>
          <a:p>
            <a:pPr indent="-298450" lvl="1" marL="914400" rtl="0" algn="l">
              <a:lnSpc>
                <a:spcPct val="133333"/>
              </a:lnSpc>
              <a:spcBef>
                <a:spcPts val="0"/>
              </a:spcBef>
              <a:spcAft>
                <a:spcPts val="0"/>
              </a:spcAft>
              <a:buClr>
                <a:srgbClr val="212121"/>
              </a:buClr>
              <a:buSzPts val="1100"/>
              <a:buFont typeface="Arial"/>
              <a:buChar char="○"/>
            </a:pPr>
            <a:r>
              <a:rPr lang="en" sz="1100" u="sng">
                <a:solidFill>
                  <a:srgbClr val="1155CC"/>
                </a:solidFill>
                <a:latin typeface="Arial"/>
                <a:ea typeface="Arial"/>
                <a:cs typeface="Arial"/>
                <a:sym typeface="Arial"/>
                <a:hlinkClick r:id="rId5">
                  <a:extLst>
                    <a:ext uri="{A12FA001-AC4F-418D-AE19-62706E023703}">
                      <ahyp:hlinkClr val="tx"/>
                    </a:ext>
                  </a:extLst>
                </a:hlinkClick>
              </a:rPr>
              <a:t>https://www.sqlshack.com/sql-server-inline-table-valued-function/</a:t>
            </a:r>
            <a:endParaRPr sz="1100">
              <a:solidFill>
                <a:srgbClr val="212121"/>
              </a:solidFill>
              <a:latin typeface="Arial"/>
              <a:ea typeface="Arial"/>
              <a:cs typeface="Arial"/>
              <a:sym typeface="Arial"/>
            </a:endParaRPr>
          </a:p>
          <a:p>
            <a:pPr indent="-298450" lvl="1" marL="914400" rtl="0" algn="l">
              <a:lnSpc>
                <a:spcPct val="133333"/>
              </a:lnSpc>
              <a:spcBef>
                <a:spcPts val="0"/>
              </a:spcBef>
              <a:spcAft>
                <a:spcPts val="0"/>
              </a:spcAft>
              <a:buClr>
                <a:srgbClr val="212121"/>
              </a:buClr>
              <a:buSzPts val="1100"/>
              <a:buFont typeface="Arial"/>
              <a:buChar char="○"/>
            </a:pPr>
            <a:r>
              <a:rPr lang="en" sz="1100" u="sng">
                <a:solidFill>
                  <a:schemeClr val="hlink"/>
                </a:solidFill>
                <a:latin typeface="Arial"/>
                <a:ea typeface="Arial"/>
                <a:cs typeface="Arial"/>
                <a:sym typeface="Arial"/>
                <a:hlinkClick r:id="rId6"/>
              </a:rPr>
              <a:t>https://sabihullahsaleh.medium.com/table-valued-functions-tvfs-in-sql-8706a3c0288b</a:t>
            </a:r>
            <a:endParaRPr sz="1100">
              <a:solidFill>
                <a:srgbClr val="212121"/>
              </a:solidFill>
              <a:latin typeface="Arial"/>
              <a:ea typeface="Arial"/>
              <a:cs typeface="Arial"/>
              <a:sym typeface="Arial"/>
            </a:endParaRPr>
          </a:p>
          <a:p>
            <a:pPr indent="-298450" lvl="0" marL="457200" rtl="0" algn="l">
              <a:lnSpc>
                <a:spcPct val="133333"/>
              </a:lnSpc>
              <a:spcBef>
                <a:spcPts val="0"/>
              </a:spcBef>
              <a:spcAft>
                <a:spcPts val="0"/>
              </a:spcAft>
              <a:buClr>
                <a:srgbClr val="212121"/>
              </a:buClr>
              <a:buSzPts val="1100"/>
              <a:buFont typeface="Arial"/>
              <a:buChar char="●"/>
            </a:pPr>
            <a:r>
              <a:rPr lang="en" sz="1100">
                <a:solidFill>
                  <a:srgbClr val="212121"/>
                </a:solidFill>
                <a:latin typeface="Arial"/>
                <a:ea typeface="Arial"/>
                <a:cs typeface="Arial"/>
                <a:sym typeface="Arial"/>
              </a:rPr>
              <a:t>Create Table</a:t>
            </a:r>
            <a:endParaRPr sz="1100">
              <a:solidFill>
                <a:srgbClr val="212121"/>
              </a:solidFill>
              <a:latin typeface="Arial"/>
              <a:ea typeface="Arial"/>
              <a:cs typeface="Arial"/>
              <a:sym typeface="Arial"/>
            </a:endParaRPr>
          </a:p>
          <a:p>
            <a:pPr indent="-298450" lvl="1" marL="914400" rtl="0" algn="l">
              <a:lnSpc>
                <a:spcPct val="133333"/>
              </a:lnSpc>
              <a:spcBef>
                <a:spcPts val="0"/>
              </a:spcBef>
              <a:spcAft>
                <a:spcPts val="0"/>
              </a:spcAft>
              <a:buClr>
                <a:srgbClr val="212121"/>
              </a:buClr>
              <a:buSzPts val="1100"/>
              <a:buFont typeface="Arial"/>
              <a:buChar char="○"/>
            </a:pPr>
            <a:r>
              <a:rPr lang="en" sz="1100" u="sng">
                <a:solidFill>
                  <a:srgbClr val="1155CC"/>
                </a:solidFill>
                <a:latin typeface="Arial"/>
                <a:ea typeface="Arial"/>
                <a:cs typeface="Arial"/>
                <a:sym typeface="Arial"/>
                <a:hlinkClick r:id="rId7">
                  <a:extLst>
                    <a:ext uri="{A12FA001-AC4F-418D-AE19-62706E023703}">
                      <ahyp:hlinkClr val="tx"/>
                    </a:ext>
                  </a:extLst>
                </a:hlinkClick>
              </a:rPr>
              <a:t>https://www.w3schools.com/sql/sql_create_table.asp</a:t>
            </a:r>
            <a:endParaRPr sz="1100">
              <a:solidFill>
                <a:srgbClr val="212121"/>
              </a:solidFill>
              <a:latin typeface="Arial"/>
              <a:ea typeface="Arial"/>
              <a:cs typeface="Arial"/>
              <a:sym typeface="Arial"/>
            </a:endParaRPr>
          </a:p>
          <a:p>
            <a:pPr indent="-298450" lvl="1" marL="914400" rtl="0" algn="l">
              <a:lnSpc>
                <a:spcPct val="133333"/>
              </a:lnSpc>
              <a:spcBef>
                <a:spcPts val="0"/>
              </a:spcBef>
              <a:spcAft>
                <a:spcPts val="0"/>
              </a:spcAft>
              <a:buClr>
                <a:srgbClr val="212121"/>
              </a:buClr>
              <a:buSzPts val="1100"/>
              <a:buFont typeface="Arial"/>
              <a:buChar char="○"/>
            </a:pPr>
            <a:r>
              <a:rPr lang="en" sz="1100" u="sng">
                <a:solidFill>
                  <a:srgbClr val="1155CC"/>
                </a:solidFill>
                <a:latin typeface="Arial"/>
                <a:ea typeface="Arial"/>
                <a:cs typeface="Arial"/>
                <a:sym typeface="Arial"/>
                <a:hlinkClick r:id="rId8">
                  <a:extLst>
                    <a:ext uri="{A12FA001-AC4F-418D-AE19-62706E023703}">
                      <ahyp:hlinkClr val="tx"/>
                    </a:ext>
                  </a:extLst>
                </a:hlinkClick>
              </a:rPr>
              <a:t>https://www.tutorialspoint.com/t_sql/t_sql_create_tables.htm</a:t>
            </a:r>
            <a:endParaRPr sz="1100">
              <a:solidFill>
                <a:srgbClr val="212121"/>
              </a:solidFill>
              <a:latin typeface="Arial"/>
              <a:ea typeface="Arial"/>
              <a:cs typeface="Arial"/>
              <a:sym typeface="Arial"/>
            </a:endParaRPr>
          </a:p>
          <a:p>
            <a:pPr indent="-298450" lvl="0" marL="457200" rtl="0" algn="l">
              <a:lnSpc>
                <a:spcPct val="133333"/>
              </a:lnSpc>
              <a:spcBef>
                <a:spcPts val="0"/>
              </a:spcBef>
              <a:spcAft>
                <a:spcPts val="0"/>
              </a:spcAft>
              <a:buClr>
                <a:srgbClr val="212121"/>
              </a:buClr>
              <a:buSzPts val="1100"/>
              <a:buFont typeface="Arial"/>
              <a:buChar char="●"/>
            </a:pPr>
            <a:r>
              <a:rPr lang="en" sz="1100">
                <a:solidFill>
                  <a:srgbClr val="212121"/>
                </a:solidFill>
                <a:latin typeface="Arial"/>
                <a:ea typeface="Arial"/>
                <a:cs typeface="Arial"/>
                <a:sym typeface="Arial"/>
              </a:rPr>
              <a:t>Create Schemas</a:t>
            </a:r>
            <a:endParaRPr sz="1100">
              <a:solidFill>
                <a:srgbClr val="212121"/>
              </a:solidFill>
              <a:latin typeface="Arial"/>
              <a:ea typeface="Arial"/>
              <a:cs typeface="Arial"/>
              <a:sym typeface="Arial"/>
            </a:endParaRPr>
          </a:p>
          <a:p>
            <a:pPr indent="-298450" lvl="1" marL="914400" rtl="0" algn="l">
              <a:lnSpc>
                <a:spcPct val="133333"/>
              </a:lnSpc>
              <a:spcBef>
                <a:spcPts val="0"/>
              </a:spcBef>
              <a:spcAft>
                <a:spcPts val="0"/>
              </a:spcAft>
              <a:buClr>
                <a:srgbClr val="212121"/>
              </a:buClr>
              <a:buSzPts val="1100"/>
              <a:buFont typeface="Arial"/>
              <a:buChar char="○"/>
            </a:pPr>
            <a:r>
              <a:rPr lang="en" sz="1100" u="sng">
                <a:solidFill>
                  <a:srgbClr val="1155CC"/>
                </a:solidFill>
                <a:latin typeface="Arial"/>
                <a:ea typeface="Arial"/>
                <a:cs typeface="Arial"/>
                <a:sym typeface="Arial"/>
                <a:hlinkClick r:id="rId9">
                  <a:extLst>
                    <a:ext uri="{A12FA001-AC4F-418D-AE19-62706E023703}">
                      <ahyp:hlinkClr val="tx"/>
                    </a:ext>
                  </a:extLst>
                </a:hlinkClick>
              </a:rPr>
              <a:t>https://www.geeksforgeeks.org/sql/create-schema-in-sql-server/</a:t>
            </a:r>
            <a:endParaRPr sz="1100">
              <a:solidFill>
                <a:srgbClr val="212121"/>
              </a:solidFill>
              <a:latin typeface="Arial"/>
              <a:ea typeface="Arial"/>
              <a:cs typeface="Arial"/>
              <a:sym typeface="Arial"/>
            </a:endParaRPr>
          </a:p>
          <a:p>
            <a:pPr indent="-298450" lvl="0" marL="457200" rtl="0" algn="l">
              <a:lnSpc>
                <a:spcPct val="133333"/>
              </a:lnSpc>
              <a:spcBef>
                <a:spcPts val="0"/>
              </a:spcBef>
              <a:spcAft>
                <a:spcPts val="0"/>
              </a:spcAft>
              <a:buClr>
                <a:srgbClr val="212121"/>
              </a:buClr>
              <a:buSzPts val="1100"/>
              <a:buFont typeface="Arial"/>
              <a:buChar char="●"/>
            </a:pPr>
            <a:r>
              <a:rPr lang="en" sz="1100">
                <a:solidFill>
                  <a:srgbClr val="212121"/>
                </a:solidFill>
                <a:latin typeface="Arial"/>
                <a:ea typeface="Arial"/>
                <a:cs typeface="Arial"/>
                <a:sym typeface="Arial"/>
              </a:rPr>
              <a:t>Self Reference Table</a:t>
            </a:r>
            <a:endParaRPr sz="1100">
              <a:solidFill>
                <a:srgbClr val="212121"/>
              </a:solidFill>
              <a:latin typeface="Arial"/>
              <a:ea typeface="Arial"/>
              <a:cs typeface="Arial"/>
              <a:sym typeface="Arial"/>
            </a:endParaRPr>
          </a:p>
          <a:p>
            <a:pPr indent="-298450" lvl="1" marL="914400" rtl="0" algn="l">
              <a:lnSpc>
                <a:spcPct val="133333"/>
              </a:lnSpc>
              <a:spcBef>
                <a:spcPts val="0"/>
              </a:spcBef>
              <a:spcAft>
                <a:spcPts val="0"/>
              </a:spcAft>
              <a:buClr>
                <a:srgbClr val="212121"/>
              </a:buClr>
              <a:buSzPts val="1100"/>
              <a:buFont typeface="Arial"/>
              <a:buChar char="○"/>
            </a:pPr>
            <a:r>
              <a:rPr lang="en" sz="1100" u="sng">
                <a:solidFill>
                  <a:srgbClr val="1155CC"/>
                </a:solidFill>
                <a:latin typeface="Arial"/>
                <a:ea typeface="Arial"/>
                <a:cs typeface="Arial"/>
                <a:sym typeface="Arial"/>
                <a:hlinkClick r:id="rId10">
                  <a:extLst>
                    <a:ext uri="{A12FA001-AC4F-418D-AE19-62706E023703}">
                      <ahyp:hlinkClr val="tx"/>
                    </a:ext>
                  </a:extLst>
                </a:hlinkClick>
              </a:rPr>
              <a:t>https://sudhass.medium.com/self-referencing-foreign-key-constraint-in-rdbms-and-self-join-b66186e672f7</a:t>
            </a:r>
            <a:endParaRPr b="1" sz="1100" u="sng">
              <a:solidFill>
                <a:srgbClr val="000000"/>
              </a:solidFill>
              <a:latin typeface="Arial"/>
              <a:ea typeface="Arial"/>
              <a:cs typeface="Arial"/>
              <a:sym typeface="Arial"/>
            </a:endParaRPr>
          </a:p>
          <a:p>
            <a:pPr indent="-298450" lvl="0" marL="457200" rtl="0" algn="l">
              <a:lnSpc>
                <a:spcPct val="133333"/>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Foreign Keys</a:t>
            </a:r>
            <a:endParaRPr sz="1100">
              <a:solidFill>
                <a:srgbClr val="000000"/>
              </a:solidFill>
              <a:latin typeface="Arial"/>
              <a:ea typeface="Arial"/>
              <a:cs typeface="Arial"/>
              <a:sym typeface="Arial"/>
            </a:endParaRPr>
          </a:p>
          <a:p>
            <a:pPr indent="-298450" lvl="1" marL="914400" rtl="0" algn="l">
              <a:lnSpc>
                <a:spcPct val="133333"/>
              </a:lnSpc>
              <a:spcBef>
                <a:spcPts val="0"/>
              </a:spcBef>
              <a:spcAft>
                <a:spcPts val="0"/>
              </a:spcAft>
              <a:buClr>
                <a:srgbClr val="000000"/>
              </a:buClr>
              <a:buSzPts val="1100"/>
              <a:buFont typeface="Arial"/>
              <a:buChar char="○"/>
            </a:pPr>
            <a:r>
              <a:rPr lang="en" sz="1100" u="sng">
                <a:solidFill>
                  <a:srgbClr val="1155CC"/>
                </a:solidFill>
                <a:latin typeface="Arial"/>
                <a:ea typeface="Arial"/>
                <a:cs typeface="Arial"/>
                <a:sym typeface="Arial"/>
                <a:hlinkClick r:id="rId11">
                  <a:extLst>
                    <a:ext uri="{A12FA001-AC4F-418D-AE19-62706E023703}">
                      <ahyp:hlinkClr val="tx"/>
                    </a:ext>
                  </a:extLst>
                </a:hlinkClick>
              </a:rPr>
              <a:t>https://www.w3schools.com/sql/sql_foreignkey.asp</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